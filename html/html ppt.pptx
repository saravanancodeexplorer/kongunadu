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1FEADD4-3AA8-4309-B0E7-578B63D8F6F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169AFB0-04EC-4B66-BA4D-481207BBDC78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0D1116E-C134-45FC-AC40-2E4B194A0EE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E0F1C1-A7D1-449E-A60E-C55D52EC8DF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3D73A34-46FD-4184-9F89-B7A6FD6BAD7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0CA042F-EE8F-4BA5-A585-97321C7030A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F57532-468E-4EBA-B531-16DA46EC58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BFEE0F-CF6A-4770-9A73-23A27834D8A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9D730E3-A78B-4FCA-82FB-DC3571F28D0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E4C8F50-11CF-4EB3-A5F1-1B67AE82B1D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023C522-F803-490F-AC6F-4F9F0243389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0803E4D-13F7-4F7D-9F36-A04C36A51E5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elestia-R1---OverlayContentHD.png"/>
          <p:cNvPicPr/>
          <p:nvPr/>
        </p:nvPicPr>
        <p:blipFill>
          <a:blip r:embed="rId15"/>
          <a:stretch/>
        </p:blipFill>
        <p:spPr>
          <a:xfrm>
            <a:off x="0" y="0"/>
            <a:ext cx="12187800" cy="68551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685800" y="5870520"/>
            <a:ext cx="7826400" cy="37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10266120" y="5870520"/>
            <a:ext cx="550080" cy="37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0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F814AE-3E27-476A-B912-ECD79DA9A580}" type="slidenum">
              <a:rPr lang="en-US" sz="10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589600" y="5870520"/>
            <a:ext cx="1599120" cy="37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"/>
          <p:cNvSpPr/>
          <p:nvPr/>
        </p:nvSpPr>
        <p:spPr>
          <a:xfrm>
            <a:off x="931680" y="623520"/>
            <a:ext cx="10000800" cy="55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	</a:t>
            </a: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(Hypertext Markup Language) is a language used to create the structure and content of websites. It is the foundation upon which all websites are built, and every web developer must have a good understanding of HTML to create dynamic and engaging web pages.</a:t>
            </a:r>
            <a:endParaRPr lang="en-IN" sz="2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stands for Hyper Text Markup Language</a:t>
            </a: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was invented by Tim Berners-Lee in 1991.</a:t>
            </a: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is used for creating web pages and web applications.</a:t>
            </a: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It is used to describe the structure of Web pages using markup tags.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516600" y="392760"/>
            <a:ext cx="2659320" cy="51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Introduction</a:t>
            </a:r>
            <a:endParaRPr lang="en-IN" sz="2800" b="0" strike="noStrike" spc="-1">
              <a:latin typeface="Arial"/>
            </a:endParaRPr>
          </a:p>
        </p:txBody>
      </p:sp>
      <p:pic>
        <p:nvPicPr>
          <p:cNvPr id="44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-16200" y="435960"/>
            <a:ext cx="5588280" cy="51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Fundamental of HTML Tags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6" name="Rectangle 2"/>
          <p:cNvSpPr/>
          <p:nvPr/>
        </p:nvSpPr>
        <p:spPr>
          <a:xfrm>
            <a:off x="684720" y="1344600"/>
            <a:ext cx="10796400" cy="46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is written in the form of HTML elements consisting of markup tags. These markup tags are the fundamental characteristic of HTML. Every markup tag is composed of a keyword, surrounded by angle brackets</a:t>
            </a:r>
            <a:r>
              <a:rPr lang="en-US" sz="2800" b="1" strike="noStrike" spc="-1">
                <a:solidFill>
                  <a:srgbClr val="E1EFF4"/>
                </a:solidFill>
                <a:latin typeface="Times New Roman"/>
                <a:ea typeface="DejaVu Sans"/>
              </a:rPr>
              <a:t> &lt;tagname&gt;content&lt;/tagname&gt;.</a:t>
            </a:r>
            <a:endParaRPr lang="en-IN" sz="2800" b="0" strike="noStrike" spc="-1">
              <a:latin typeface="Arial"/>
            </a:endParaRPr>
          </a:p>
          <a:p>
            <a:pPr marL="22860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00FF00"/>
                </a:solidFill>
                <a:latin typeface="Times New Roman"/>
                <a:ea typeface="DejaVu Sans"/>
              </a:rPr>
              <a:t>Standalone tags</a:t>
            </a:r>
            <a:endParaRPr lang="en-IN" sz="2400" b="0" strike="noStrike" spc="-1">
              <a:latin typeface="Arial"/>
            </a:endParaRPr>
          </a:p>
          <a:p>
            <a:pPr marL="22860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00FF00"/>
                </a:solidFill>
                <a:latin typeface="Times New Roman"/>
                <a:ea typeface="DejaVu Sans"/>
              </a:rPr>
              <a:t>Container tags</a:t>
            </a:r>
            <a:endParaRPr lang="en-IN" sz="24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HTML tags normally come in pairs like &lt;p&gt; and &lt;/p&gt;</a:t>
            </a: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The first tag in a pair is the start tag, the second tag is the end tag.</a:t>
            </a:r>
            <a:endParaRPr lang="en-IN" sz="2800" b="0" strike="noStrike" spc="-1">
              <a:latin typeface="Arial"/>
            </a:endParaRPr>
          </a:p>
          <a:p>
            <a:pPr marL="1257480" lvl="2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The end tag is written like the start tag, but with a slash before the tag name.</a:t>
            </a:r>
            <a:endParaRPr lang="en-IN" sz="2800" b="0" strike="noStrike" spc="-1">
              <a:latin typeface="Arial"/>
            </a:endParaRPr>
          </a:p>
        </p:txBody>
      </p:sp>
      <p:pic>
        <p:nvPicPr>
          <p:cNvPr id="47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"/>
          <p:cNvSpPr/>
          <p:nvPr/>
        </p:nvSpPr>
        <p:spPr>
          <a:xfrm>
            <a:off x="14040" y="553320"/>
            <a:ext cx="5023080" cy="51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Basic Structure of HTML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9" name="Rectangle 1"/>
          <p:cNvSpPr/>
          <p:nvPr/>
        </p:nvSpPr>
        <p:spPr>
          <a:xfrm>
            <a:off x="1686240" y="1883160"/>
            <a:ext cx="308880" cy="8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IN" sz="11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sz="1800"/>
              <a:t/>
            </a:r>
            <a:br>
              <a:rPr sz="1800"/>
            </a:br>
            <a:endParaRPr lang="en-IN" sz="1800" b="0" strike="noStrike" spc="-1">
              <a:latin typeface="Arial"/>
            </a:endParaRPr>
          </a:p>
        </p:txBody>
      </p:sp>
      <p:pic>
        <p:nvPicPr>
          <p:cNvPr id="50" name="Picture 2" descr="HTML"/>
          <p:cNvPicPr/>
          <p:nvPr/>
        </p:nvPicPr>
        <p:blipFill>
          <a:blip r:embed="rId2"/>
          <a:stretch/>
        </p:blipFill>
        <p:spPr>
          <a:xfrm>
            <a:off x="2525400" y="1599120"/>
            <a:ext cx="6322680" cy="476820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3" descr="C:\Users\isyswaytech\Desktop\New logo Sysway TM.png"/>
          <p:cNvPicPr/>
          <p:nvPr/>
        </p:nvPicPr>
        <p:blipFill>
          <a:blip r:embed="rId3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1"/>
          <p:cNvSpPr/>
          <p:nvPr/>
        </p:nvSpPr>
        <p:spPr>
          <a:xfrm>
            <a:off x="223920" y="174600"/>
            <a:ext cx="3326040" cy="455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HTML Headings Tags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3" name="Rectangle 3"/>
          <p:cNvSpPr/>
          <p:nvPr/>
        </p:nvSpPr>
        <p:spPr>
          <a:xfrm>
            <a:off x="2433960" y="827640"/>
            <a:ext cx="6094800" cy="264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&lt;h1&gt;Heading Level 1&lt;/h1&gt;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&lt;h2&gt;Heading Level 2&lt;/h2&gt;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&lt;h3&gt;Heading Level 3&lt;/h3&gt;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&lt;h4&gt;Heading Level 4&lt;/h4&gt;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&lt;h5&gt;Heading Level 5&lt;/h5&gt;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    &lt;h6&gt;Heading Level 6&lt;/h6&gt;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54" name="Rectangle 4"/>
          <p:cNvSpPr/>
          <p:nvPr/>
        </p:nvSpPr>
        <p:spPr>
          <a:xfrm>
            <a:off x="356760" y="3696480"/>
            <a:ext cx="3379320" cy="3945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0000"/>
                </a:solidFill>
                <a:latin typeface="Times New Roman"/>
                <a:ea typeface="DejaVu Sans"/>
              </a:rPr>
              <a:t> </a:t>
            </a:r>
            <a:r>
              <a:rPr lang="en-US" sz="20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Horizontal Ruler in HTML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55" name="Rectangle 6"/>
          <p:cNvSpPr/>
          <p:nvPr/>
        </p:nvSpPr>
        <p:spPr>
          <a:xfrm>
            <a:off x="1488240" y="4287960"/>
            <a:ext cx="958032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&lt;hr align="center" width="70%" size="3" color="#8080ff"&gt;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56" name="Rectangle 2"/>
          <p:cNvSpPr/>
          <p:nvPr/>
        </p:nvSpPr>
        <p:spPr>
          <a:xfrm>
            <a:off x="341640" y="5116320"/>
            <a:ext cx="2728440" cy="394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HTML Comment Tag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57" name="Rectangle 5"/>
          <p:cNvSpPr/>
          <p:nvPr/>
        </p:nvSpPr>
        <p:spPr>
          <a:xfrm>
            <a:off x="3056040" y="5830920"/>
            <a:ext cx="54046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&lt;!-- Write your comments here --&gt;</a:t>
            </a:r>
            <a:endParaRPr lang="en-IN" sz="2800" b="0" strike="noStrike" spc="-1">
              <a:latin typeface="Arial"/>
            </a:endParaRPr>
          </a:p>
        </p:txBody>
      </p:sp>
      <p:pic>
        <p:nvPicPr>
          <p:cNvPr id="58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385560" y="422640"/>
            <a:ext cx="3880800" cy="455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Text Formatting in HTML</a:t>
            </a:r>
            <a:endParaRPr lang="en-IN" sz="2400" b="0" strike="noStrike" spc="-1">
              <a:latin typeface="Arial"/>
            </a:endParaRPr>
          </a:p>
        </p:txBody>
      </p:sp>
      <p:graphicFrame>
        <p:nvGraphicFramePr>
          <p:cNvPr id="60" name="Table 7"/>
          <p:cNvGraphicFramePr/>
          <p:nvPr/>
        </p:nvGraphicFramePr>
        <p:xfrm>
          <a:off x="470160" y="1702080"/>
          <a:ext cx="11311920" cy="2725200"/>
        </p:xfrm>
        <a:graphic>
          <a:graphicData uri="http://schemas.openxmlformats.org/drawingml/2006/table">
            <a:tbl>
              <a:tblPr/>
              <a:tblGrid>
                <a:gridCol w="2050560"/>
                <a:gridCol w="2473920"/>
                <a:gridCol w="2633400"/>
                <a:gridCol w="1891440"/>
                <a:gridCol w="2262600"/>
              </a:tblGrid>
              <a:tr h="725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&lt;p&gt;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&lt;strong&gt;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&lt;em&gt;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&lt;u&gt;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&lt;sup&gt;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</a:tr>
              <a:tr h="63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&lt;sub&gt;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&lt;mark&gt;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&lt;del&gt;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&lt;ins&gt;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&lt;small&gt;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</a:tr>
              <a:tr h="63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&lt;br&gt;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&lt;hr&gt;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&lt;blockquote&gt;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&lt;q&gt;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&lt;pre&gt;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</a:tr>
              <a:tr h="720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&lt;i&gt;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&lt;b&gt;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&lt;address&gt;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&lt;center&gt;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32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&lt;abbr&gt;</a:t>
                      </a:r>
                      <a:endParaRPr lang="en-IN" sz="3200" b="0" strike="noStrike" spc="-1">
                        <a:latin typeface="Arial"/>
                      </a:endParaRPr>
                    </a:p>
                  </a:txBody>
                  <a:tcPr>
                    <a:lnL w="9360">
                      <a:solidFill>
                        <a:srgbClr val="DDDDDD"/>
                      </a:solidFill>
                    </a:lnL>
                    <a:lnR>
                      <a:noFill/>
                    </a:lnR>
                    <a:lnT w="9360">
                      <a:solidFill>
                        <a:srgbClr val="DDDDDD"/>
                      </a:solidFill>
                    </a:lnT>
                    <a:lnB>
                      <a:noFill/>
                    </a:lnB>
                    <a:solidFill>
                      <a:srgbClr val="F6B5C7"/>
                    </a:solidFill>
                  </a:tcPr>
                </a:tc>
              </a:tr>
            </a:tbl>
          </a:graphicData>
        </a:graphic>
      </p:graphicFrame>
      <p:pic>
        <p:nvPicPr>
          <p:cNvPr id="61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"/>
          <p:cNvSpPr/>
          <p:nvPr/>
        </p:nvSpPr>
        <p:spPr>
          <a:xfrm>
            <a:off x="342720" y="279000"/>
            <a:ext cx="223920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HTML Images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966600" y="873720"/>
            <a:ext cx="9835200" cy="28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&lt;img src="flower.jpg"&gt;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&lt;img src="images/flower.jpg" alt="Flower"&gt;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&lt;img src="images/flower.jpg" alt="Flower" height="250px" width="400px" border="1" 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64" name="Rectangle 8"/>
          <p:cNvSpPr/>
          <p:nvPr/>
        </p:nvSpPr>
        <p:spPr>
          <a:xfrm>
            <a:off x="333000" y="3736080"/>
            <a:ext cx="298440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HTML Div Element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5" name="Rectangle 9"/>
          <p:cNvSpPr/>
          <p:nvPr/>
        </p:nvSpPr>
        <p:spPr>
          <a:xfrm>
            <a:off x="2329560" y="4664880"/>
            <a:ext cx="668268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&lt;div&gt;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 &lt;h2&gt;London&lt;/h2&gt;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 &lt;p&gt;London is the capital city of England.&lt;/p&gt;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 &lt;p&gt;London has over 13 million inhabitants.&lt;/p&gt;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&lt;/div&gt;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66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603000" y="553320"/>
            <a:ext cx="158400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Table Tag</a:t>
            </a:r>
            <a:endParaRPr lang="en-IN" sz="2400" b="0" strike="noStrike" spc="-1">
              <a:latin typeface="Arial"/>
            </a:endParaRPr>
          </a:p>
        </p:txBody>
      </p:sp>
      <p:graphicFrame>
        <p:nvGraphicFramePr>
          <p:cNvPr id="68" name="Table 2"/>
          <p:cNvGraphicFramePr/>
          <p:nvPr/>
        </p:nvGraphicFramePr>
        <p:xfrm>
          <a:off x="1395720" y="1541160"/>
          <a:ext cx="9307800" cy="914400"/>
        </p:xfrm>
        <a:graphic>
          <a:graphicData uri="http://schemas.openxmlformats.org/drawingml/2006/table">
            <a:tbl>
              <a:tblPr/>
              <a:tblGrid>
                <a:gridCol w="1861560"/>
                <a:gridCol w="1861560"/>
                <a:gridCol w="1861560"/>
                <a:gridCol w="1861560"/>
                <a:gridCol w="186156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&lt;table&gt;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&lt;tr&gt;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&lt;th&gt;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&lt;td&gt;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&lt;thead&gt;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A520D8"/>
                          </a:solidFill>
                          <a:latin typeface="Times New Roman"/>
                        </a:rPr>
                        <a:t>&lt;caption&gt;</a:t>
                      </a:r>
                      <a:endParaRPr lang="en-IN" sz="24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DDDDDD"/>
                      </a:solidFill>
                    </a:lnL>
                    <a:lnR w="9360">
                      <a:solidFill>
                        <a:srgbClr val="DDDDDD"/>
                      </a:solidFill>
                    </a:lnR>
                    <a:lnT w="9360">
                      <a:solidFill>
                        <a:srgbClr val="DDDDDD"/>
                      </a:solidFill>
                    </a:lnT>
                    <a:lnB w="9360">
                      <a:solidFill>
                        <a:srgbClr val="DDDDDD"/>
                      </a:solidFill>
                    </a:lnB>
                    <a:solidFill>
                      <a:srgbClr val="F6B5C7"/>
                    </a:solidFill>
                  </a:tcPr>
                </a:tc>
              </a:tr>
            </a:tbl>
          </a:graphicData>
        </a:graphic>
      </p:graphicFrame>
      <p:sp>
        <p:nvSpPr>
          <p:cNvPr id="69" name="Rectangle 3"/>
          <p:cNvSpPr/>
          <p:nvPr/>
        </p:nvSpPr>
        <p:spPr>
          <a:xfrm>
            <a:off x="1492560" y="3351240"/>
            <a:ext cx="921024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00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00FF00"/>
                </a:solidFill>
                <a:latin typeface="Times New Roman"/>
                <a:ea typeface="DejaVu Sans"/>
              </a:rPr>
              <a:t>colspan 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:is used to specify how many columns a cell should span horizontally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00FF00"/>
                </a:solidFill>
                <a:latin typeface="Times New Roman"/>
                <a:ea typeface="DejaVu Sans"/>
              </a:rPr>
              <a:t>rowspan : 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is used to specify how many columns a cell should span vertically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70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152640" y="266040"/>
            <a:ext cx="358812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Creating Lists in HTML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866520" y="955080"/>
            <a:ext cx="10980360" cy="48921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Unordered List: &lt;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Times New Roman"/>
                <a:ea typeface="DejaVu Sans"/>
              </a:rPr>
              <a:t>ul</a:t>
            </a: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&gt;...&lt;/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Times New Roman"/>
                <a:ea typeface="DejaVu Sans"/>
              </a:rPr>
              <a:t>ul</a:t>
            </a: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&gt; - Represents a list of items with bullet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Disc (default)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circle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square</a:t>
            </a:r>
            <a:endParaRPr lang="en-IN" sz="24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Ordered List: &lt;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Times New Roman"/>
                <a:ea typeface="DejaVu Sans"/>
              </a:rPr>
              <a:t>ol</a:t>
            </a: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&gt;...&lt;/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Times New Roman"/>
                <a:ea typeface="DejaVu Sans"/>
              </a:rPr>
              <a:t>ol</a:t>
            </a: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&gt; - Represents a list of items with numbers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1(default)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I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i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A</a:t>
            </a:r>
            <a:endParaRPr lang="en-IN" sz="2400" b="0" strike="noStrike" spc="-1" dirty="0">
              <a:latin typeface="Arial"/>
            </a:endParaRPr>
          </a:p>
          <a:p>
            <a:pPr marL="1657440" lvl="3" indent="-28584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a</a:t>
            </a:r>
            <a:endParaRPr lang="en-IN" sz="24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00"/>
              </a:buClr>
              <a:buFont typeface="Calibri Light"/>
              <a:buAutoNum type="arabicPeriod"/>
            </a:pPr>
            <a:r>
              <a:rPr lang="en-US" sz="2400" b="1" strike="noStrike" spc="-1" dirty="0">
                <a:solidFill>
                  <a:srgbClr val="FFFF00"/>
                </a:solidFill>
                <a:latin typeface="Times New Roman"/>
                <a:ea typeface="DejaVu Sans"/>
              </a:rPr>
              <a:t>Definition List: &lt;dl&gt;...&lt;/dl&gt; - Represents a list of terms and their associated descriptions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Clr>
                <a:srgbClr val="FFFF00"/>
              </a:buClr>
            </a:pPr>
            <a:endParaRPr lang="en-IN" sz="2400" b="0" strike="noStrike" spc="-1" dirty="0">
              <a:latin typeface="Arial"/>
            </a:endParaRPr>
          </a:p>
        </p:txBody>
      </p:sp>
      <p:pic>
        <p:nvPicPr>
          <p:cNvPr id="73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329400" y="344520"/>
            <a:ext cx="344952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Marquee Tag in HTML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1167120" y="947160"/>
            <a:ext cx="10157400" cy="585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The &lt;marquee&gt; &lt;/marquee&gt; tag in HTML is used to create a scrolling text or an image.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99FF66"/>
                </a:solidFill>
                <a:latin typeface="Times New Roman"/>
                <a:ea typeface="DejaVu Sans"/>
              </a:rPr>
              <a:t>direction: 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Specifies the direction of the scrolling content. The values can be left, right, up, or down 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99FF66"/>
                </a:solidFill>
                <a:latin typeface="Times New Roman"/>
                <a:ea typeface="DejaVu Sans"/>
              </a:rPr>
              <a:t>behavior: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Specifies the scrolling behavior. The values can be scroll, slide, or alternate 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99FF66"/>
                </a:solidFill>
                <a:latin typeface="Times New Roman"/>
                <a:ea typeface="DejaVu Sans"/>
              </a:rPr>
              <a:t>bgcolor: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Specifies the background color of the scrolling content.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height and width: Specifies the height and width of the scrolling content.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99FF66"/>
                </a:solidFill>
                <a:latin typeface="Times New Roman"/>
                <a:ea typeface="DejaVu Sans"/>
              </a:rPr>
              <a:t>scrollamount:</a:t>
            </a:r>
            <a:r>
              <a:rPr lang="en-US" sz="2400" b="1" strike="noStrike" spc="-1">
                <a:solidFill>
                  <a:srgbClr val="7030A0"/>
                </a:solidFill>
                <a:latin typeface="Times New Roman"/>
                <a:ea typeface="DejaVu Sans"/>
              </a:rPr>
              <a:t> 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Specifies the speed of the scrolling content.</a:t>
            </a:r>
            <a:endParaRPr lang="en-IN" sz="24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99FF66"/>
                </a:solidFill>
                <a:latin typeface="Times New Roman"/>
                <a:ea typeface="DejaVu Sans"/>
              </a:rPr>
              <a:t>loop: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Specifies the scrolling content moving count.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1800" b="0" strike="noStrike" spc="-1">
              <a:latin typeface="Arial"/>
            </a:endParaRPr>
          </a:p>
        </p:txBody>
      </p:sp>
      <p:pic>
        <p:nvPicPr>
          <p:cNvPr id="76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456120" y="738360"/>
            <a:ext cx="764028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Creating Hyperlinks with the Anchor Tag in HTML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1114560" y="1583280"/>
            <a:ext cx="1052316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In HTML, the anchor tag (&lt;a&gt;) is used to create hyperlinks. Hyperlinks are links that allow users to navigate to other pages or sections within a website. The anchor tag is one of the most important tags in HTML as it is used to create links between different web pages.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2850120" y="4274640"/>
            <a:ext cx="389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&lt;a href="v2.jpg"&gt; Lists&lt;/a&gt;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80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343440" y="331200"/>
            <a:ext cx="378756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Form Elements in HTML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1089360" y="1031400"/>
            <a:ext cx="2867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&lt;form&gt;</a:t>
            </a:r>
            <a:r>
              <a:rPr sz="2400"/>
              <a:t/>
            </a:r>
            <a:br>
              <a:rPr sz="2400"/>
            </a:br>
            <a:r>
              <a:rPr lang="en-US" sz="2400" b="1" i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form elements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&lt;/form&gt;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6126480" y="263880"/>
            <a:ext cx="2950200" cy="3945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The &lt;input&gt; Element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84" name="Rectangle 5"/>
          <p:cNvSpPr/>
          <p:nvPr/>
        </p:nvSpPr>
        <p:spPr>
          <a:xfrm>
            <a:off x="4280400" y="818640"/>
            <a:ext cx="7512120" cy="818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2" spc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&lt;</a:t>
            </a: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input type="button"&gt;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type="checkbox"&gt;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type=“text"&gt;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type="color"&gt;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type="date"&gt;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type="datetime-local"&gt;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type="email"&gt;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type="file"&gt;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type="image"&gt;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type="month"&gt;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type="number"&gt;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type="password"&gt;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type="radio"&gt;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type="range"&gt;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type="reset"&gt;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type="search"&gt;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type="submit"&gt;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type="tel"&gt;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type="text"&gt;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type="time"&gt;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type="url"&gt;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 type="week"&gt;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1089360" y="2231640"/>
            <a:ext cx="2179440" cy="30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&lt;label&gt;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&lt;select&gt;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&lt;textarea&gt;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&lt;button&gt;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&lt;fieldset&gt;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&lt;legend&gt;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&lt;option&gt;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86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651240" y="605520"/>
            <a:ext cx="351504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HTML Input Attributes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588960" y="1446120"/>
            <a:ext cx="11902320" cy="393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</a:t>
            </a: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input type="text" id="fname" name="fname" value="John"&gt;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&lt;input type="text" id="fname" name="fname" value="John" readonly&gt;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&lt;input type="text" id="fname" name="fname" value="John" disabled&gt;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type="text" id="fname" name="fname" size="50"&gt;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&lt;input type="text" id="pin" name="pin" maxlength="4" size="4"&gt;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&lt;input type="number" id="quantity" name="quantity" min="1" max="5"&gt;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type="file" id="files" name="files" multiple&gt;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89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1388880" y="824400"/>
            <a:ext cx="10078920" cy="44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type="text" id="country_code" name="country_code“ pattern="[A-Za-z]{3}" title="Three letter country code"&gt;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type="tel" id="phone" name="phone“ placeholder="123-45-678“&gt;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type="text" id="username" name="username" required&gt;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type="text" id="fname" name="fname" autofocus&gt;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&lt;input type="image" src="img_submit.gif" alt="Submit" width="48" height="48"&gt;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&lt;input type="email" id="email" name="email" autocomplete="off"&gt;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91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610920" y="435960"/>
            <a:ext cx="129816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iframe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1260000" y="2873160"/>
            <a:ext cx="96742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&lt;iframe src="list_tag.html" width="500" height="400"&gt;&lt;/iframe&gt;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517320" y="3601440"/>
            <a:ext cx="172800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frameset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1381320" y="4529160"/>
            <a:ext cx="979956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The frameset element in HTML is used to define a set of frames on a web page. It allows you to divide a single HTML document into multiple, independent sections that can be independently scrolled, or navigated to a different page.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96" name="Rectangle 6"/>
          <p:cNvSpPr/>
          <p:nvPr/>
        </p:nvSpPr>
        <p:spPr>
          <a:xfrm>
            <a:off x="1260000" y="1164240"/>
            <a:ext cx="924444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Frames in HTML are a way to divide a web page into multiple sections, each displaying its own separate HTML document. Each of these sections (or "frames") can scroll independently and have its own individual URL.</a:t>
            </a:r>
            <a:endParaRPr lang="en-IN" sz="2000" b="0" strike="noStrike" spc="-1">
              <a:latin typeface="Arial"/>
            </a:endParaRPr>
          </a:p>
        </p:txBody>
      </p:sp>
      <p:pic>
        <p:nvPicPr>
          <p:cNvPr id="97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405000" y="396720"/>
            <a:ext cx="4427280" cy="821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The HTML &lt;audio&gt; Element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1774080" y="1010520"/>
            <a:ext cx="6378480" cy="28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&lt;audio controls&gt;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&lt;audio controls autoplay&gt;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&lt;audio controls autoplay muted&gt;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&lt;source src="horse.mp3" type="audio/mpeg"&gt;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&lt;/audio&gt;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209160" y="3872880"/>
            <a:ext cx="4492440" cy="45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FF0000"/>
                </a:solidFill>
                <a:latin typeface="Segoe UI Black"/>
                <a:ea typeface="Segoe UI Black"/>
              </a:rPr>
              <a:t>The HTML &lt;video&gt; Element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1652760" y="4660200"/>
            <a:ext cx="76824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&lt;video width="320" height="240" autoplay muted&gt;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  &lt;source src="movie.mp4" type="video/mp4"&gt;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Times New Roman"/>
                <a:ea typeface="DejaVu Sans"/>
              </a:rPr>
              <a:t>&lt;/video&gt;</a:t>
            </a:r>
            <a:endParaRPr lang="en-IN" sz="2400" b="0" strike="noStrike" spc="-1">
              <a:latin typeface="Arial"/>
            </a:endParaRPr>
          </a:p>
        </p:txBody>
      </p:sp>
      <p:pic>
        <p:nvPicPr>
          <p:cNvPr id="102" name="Picture 3" descr="C:\Users\isyswaytech\Desktop\New logo Sysway TM.png"/>
          <p:cNvPicPr/>
          <p:nvPr/>
        </p:nvPicPr>
        <p:blipFill>
          <a:blip r:embed="rId2"/>
          <a:stretch/>
        </p:blipFill>
        <p:spPr>
          <a:xfrm>
            <a:off x="10036440" y="0"/>
            <a:ext cx="1954080" cy="1054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1420</TotalTime>
  <Words>582</Words>
  <Application>Microsoft Office PowerPoint</Application>
  <PresentationFormat>Custom</PresentationFormat>
  <Paragraphs>153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Isysway</dc:creator>
  <dc:description/>
  <cp:lastModifiedBy>admin</cp:lastModifiedBy>
  <cp:revision>41</cp:revision>
  <dcterms:created xsi:type="dcterms:W3CDTF">2023-12-07T07:09:02Z</dcterms:created>
  <dcterms:modified xsi:type="dcterms:W3CDTF">2025-09-26T04:45:39Z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16</vt:i4>
  </property>
</Properties>
</file>