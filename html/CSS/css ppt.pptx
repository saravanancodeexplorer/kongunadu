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5D68390-5838-4D9C-BE3D-0EB7426B7C4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3BB0D78-6446-43AE-87E5-5B38986971CF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759D34-BB17-45BB-8540-D8FFB8B9AC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2849A56-244F-4C76-96A8-4AE904785A4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E1520BA-1310-4192-B889-126B4EE2414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6300E35-083F-4768-AE43-1B220D44C8B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B074B94-42E6-4E4E-8907-857C839E14F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846280D-BF73-4DF9-8B33-530C82B71B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305B10D-AABF-4100-B34B-F703B28522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23BCC14-F4BA-402D-9AFE-49E6B0387B2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FB3008C-DBBE-46EA-BAB8-E205803426A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0FD9B65-DAAC-4043-B9DD-061341832D4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elestia-R1---OverlayContentHD.png"/>
          <p:cNvPicPr/>
          <p:nvPr/>
        </p:nvPicPr>
        <p:blipFill>
          <a:blip r:embed="rId15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N" sz="1400" b="0" strike="noStrike" spc="-1"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0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C1A2E9-A231-4F59-AA2F-93DD6144D680}" type="slidenum">
              <a:rPr lang="en-US" sz="10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"/>
          <p:cNvSpPr/>
          <p:nvPr/>
        </p:nvSpPr>
        <p:spPr>
          <a:xfrm>
            <a:off x="3178800" y="710280"/>
            <a:ext cx="55486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Cascading Style Sheets (CSS) 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3" name="Rectangle 6"/>
          <p:cNvSpPr/>
          <p:nvPr/>
        </p:nvSpPr>
        <p:spPr>
          <a:xfrm>
            <a:off x="906840" y="1285560"/>
            <a:ext cx="10092600" cy="338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Bahnschrift"/>
                <a:ea typeface="DejaVu Sans"/>
              </a:rPr>
              <a:t>CSS, or Cascading Style Sheets, is a styling language used to add visual style and layout to web documents written in HTML and XHTML. With CSS, web developers can separate the presentation of a web page from its content, making it easier to manage and update the appearance of a website.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4" name="Rectangle 7"/>
          <p:cNvSpPr/>
          <p:nvPr/>
        </p:nvSpPr>
        <p:spPr>
          <a:xfrm>
            <a:off x="1354320" y="4443480"/>
            <a:ext cx="244296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66FF"/>
                </a:solidFill>
                <a:latin typeface="Calibri"/>
                <a:ea typeface="DejaVu Sans"/>
              </a:rPr>
              <a:t>CSS Syntax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5" name="Rectangle 9"/>
          <p:cNvSpPr/>
          <p:nvPr/>
        </p:nvSpPr>
        <p:spPr>
          <a:xfrm>
            <a:off x="2880000" y="5220000"/>
            <a:ext cx="609516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	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	font-size:12px;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54600" y="4844160"/>
            <a:ext cx="2443680" cy="5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66FF"/>
                </a:solidFill>
                <a:latin typeface="Calibri"/>
              </a:rPr>
              <a:t>CSS Syntax</a:t>
            </a:r>
            <a:endParaRPr lang="en-IN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/>
          <p:nvPr/>
        </p:nvSpPr>
        <p:spPr>
          <a:xfrm>
            <a:off x="1807920" y="723240"/>
            <a:ext cx="871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Understanding CSS Syntax: The Building Blocks of Style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8" name="Rectangle 4"/>
          <p:cNvSpPr/>
          <p:nvPr/>
        </p:nvSpPr>
        <p:spPr>
          <a:xfrm>
            <a:off x="1055520" y="1383480"/>
            <a:ext cx="1079604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66FF"/>
                </a:solidFill>
                <a:latin typeface="Consolas"/>
                <a:ea typeface="DejaVu Sans"/>
              </a:rPr>
              <a:t>Selector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onsolas"/>
                <a:ea typeface="DejaVu Sans"/>
              </a:rPr>
              <a:t>	A selector is an HTML tag at which a style will be applied.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66FF"/>
                </a:solidFill>
                <a:latin typeface="Consolas"/>
                <a:ea typeface="DejaVu Sans"/>
              </a:rPr>
              <a:t>Property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onsolas"/>
                <a:ea typeface="DejaVu Sans"/>
              </a:rPr>
              <a:t>	A property is a type of attribute of HTML tag. Put simply, all the 	HTML attributes are converted into CSS properties.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66FF"/>
                </a:solidFill>
                <a:latin typeface="Consolas"/>
                <a:ea typeface="DejaVu Sans"/>
              </a:rPr>
              <a:t>Value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onsolas"/>
                <a:ea typeface="DejaVu Sans"/>
              </a:rPr>
              <a:t>	Values are assigned to properties.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9" name="Rectangle 6"/>
          <p:cNvSpPr/>
          <p:nvPr/>
        </p:nvSpPr>
        <p:spPr>
          <a:xfrm>
            <a:off x="2092320" y="4680000"/>
            <a:ext cx="15573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DejaVu Sans"/>
              </a:rPr>
              <a:t>Syntax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800" b="0" strike="noStrike" spc="-1">
              <a:latin typeface="Arial"/>
            </a:endParaRPr>
          </a:p>
        </p:txBody>
      </p:sp>
      <p:sp>
        <p:nvSpPr>
          <p:cNvPr id="50" name="Rectangle 8"/>
          <p:cNvSpPr/>
          <p:nvPr/>
        </p:nvSpPr>
        <p:spPr>
          <a:xfrm>
            <a:off x="2141280" y="5558400"/>
            <a:ext cx="470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FFFF"/>
                </a:solidFill>
                <a:latin typeface="Bahnschrift"/>
                <a:ea typeface="DejaVu Sans"/>
              </a:rPr>
              <a:t>selector { property : value ; 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1" name="Rectangle 3"/>
          <p:cNvSpPr/>
          <p:nvPr/>
        </p:nvSpPr>
        <p:spPr>
          <a:xfrm>
            <a:off x="6767280" y="5589360"/>
            <a:ext cx="29228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onsolas"/>
                <a:ea typeface="DejaVu Sans"/>
              </a:rPr>
              <a:t>h1{color:blue;}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/>
          <p:nvPr/>
        </p:nvSpPr>
        <p:spPr>
          <a:xfrm>
            <a:off x="4700160" y="193680"/>
            <a:ext cx="228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CSS Selectors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593640" y="1348920"/>
            <a:ext cx="3624840" cy="55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Element( tagname)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 </a:t>
            </a:r>
            <a:r>
              <a:rPr sz="2400"/>
              <a:t/>
            </a:r>
            <a:br>
              <a:rPr sz="2400"/>
            </a:b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Class (.)	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.para{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color:green;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ID (#)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#para{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4" name="Rectangle 9"/>
          <p:cNvSpPr/>
          <p:nvPr/>
        </p:nvSpPr>
        <p:spPr>
          <a:xfrm>
            <a:off x="3840840" y="923760"/>
            <a:ext cx="3672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Universal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5" name="Rectangle 11"/>
          <p:cNvSpPr/>
          <p:nvPr/>
        </p:nvSpPr>
        <p:spPr>
          <a:xfrm>
            <a:off x="4945680" y="1407240"/>
            <a:ext cx="293400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*{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margin:0px;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padding:0px;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6" name="Rectangle 12"/>
          <p:cNvSpPr/>
          <p:nvPr/>
        </p:nvSpPr>
        <p:spPr>
          <a:xfrm>
            <a:off x="3330000" y="2998800"/>
            <a:ext cx="4088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Descendant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7" name="Rectangle 14"/>
          <p:cNvSpPr/>
          <p:nvPr/>
        </p:nvSpPr>
        <p:spPr>
          <a:xfrm>
            <a:off x="4709880" y="3369240"/>
            <a:ext cx="340596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ul li{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font-family:roboto;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color:#8000ff;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8" name="Rectangle 15"/>
          <p:cNvSpPr/>
          <p:nvPr/>
        </p:nvSpPr>
        <p:spPr>
          <a:xfrm>
            <a:off x="3386520" y="4903200"/>
            <a:ext cx="2924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Child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9" name="Rectangle 17"/>
          <p:cNvSpPr/>
          <p:nvPr/>
        </p:nvSpPr>
        <p:spPr>
          <a:xfrm>
            <a:off x="5198400" y="5264280"/>
            <a:ext cx="334116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div &gt; p 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   color:red;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   line-height:30px;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0" name="Rectangle 19"/>
          <p:cNvSpPr/>
          <p:nvPr/>
        </p:nvSpPr>
        <p:spPr>
          <a:xfrm>
            <a:off x="7406640" y="1118160"/>
            <a:ext cx="362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Attribute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1" name="Rectangle 21"/>
          <p:cNvSpPr/>
          <p:nvPr/>
        </p:nvSpPr>
        <p:spPr>
          <a:xfrm>
            <a:off x="8606880" y="1585440"/>
            <a:ext cx="343404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input[type = "text"] 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   border: 1px solid #00dfdf; 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2" name="Rectangle 23"/>
          <p:cNvSpPr/>
          <p:nvPr/>
        </p:nvSpPr>
        <p:spPr>
          <a:xfrm>
            <a:off x="7423200" y="3138480"/>
            <a:ext cx="3639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Grouping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3" name="Rectangle 27"/>
          <p:cNvSpPr/>
          <p:nvPr/>
        </p:nvSpPr>
        <p:spPr>
          <a:xfrm>
            <a:off x="8325360" y="3795840"/>
            <a:ext cx="432000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h1,h2,h3,h4,h5,h6,b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font-family:rockwell;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2"/>
          <p:cNvSpPr/>
          <p:nvPr/>
        </p:nvSpPr>
        <p:spPr>
          <a:xfrm>
            <a:off x="1955520" y="997560"/>
            <a:ext cx="27201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Inline  CSS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Internal CSS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External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4369320" y="339480"/>
            <a:ext cx="1852920" cy="9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types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559800" y="2332440"/>
            <a:ext cx="3646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Inline Styling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7" name="Rectangle 6"/>
          <p:cNvSpPr/>
          <p:nvPr/>
        </p:nvSpPr>
        <p:spPr>
          <a:xfrm>
            <a:off x="0" y="2778840"/>
            <a:ext cx="85341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&lt;tagname style="property: value;"&gt;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&lt;p style="color:red; text-align:center"&gt;.....&lt;/p&gt;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7174800" y="1366920"/>
            <a:ext cx="23742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2F3542"/>
                </a:solidFill>
                <a:latin typeface="Titillium Web"/>
                <a:ea typeface="DejaVu Sans"/>
              </a:rPr>
              <a:t> </a:t>
            </a: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Internal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9" name="Rectangle 10"/>
          <p:cNvSpPr/>
          <p:nvPr/>
        </p:nvSpPr>
        <p:spPr>
          <a:xfrm>
            <a:off x="7423920" y="2020680"/>
            <a:ext cx="3952800" cy="37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&lt;style&gt;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color:red; 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background: black;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p{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 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&lt;/style&gt;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"/>
          <p:cNvSpPr/>
          <p:nvPr/>
        </p:nvSpPr>
        <p:spPr>
          <a:xfrm>
            <a:off x="1686600" y="1590480"/>
            <a:ext cx="60951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External style sheet </a:t>
            </a: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(style.css)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p{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color:red;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-275760" y="4694400"/>
            <a:ext cx="10019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&lt;link rel="stylesheet" href="style.css" type="text/css"&gt;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661320" y="915480"/>
            <a:ext cx="2483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 External CSS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623880" y="448920"/>
            <a:ext cx="4043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Font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878760" y="1112040"/>
            <a:ext cx="10694160" cy="74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font-family: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font face or typeface to be used. You can provide </a:t>
            </a: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multiple font names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, separated by commas, to define fallback options in case the desired font is not available.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font-size: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Sets the size of the font. It can be specified using absolute units like pixels </a:t>
            </a: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(px) or relative units like percentages (%)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. Common values include pixels (e.g., 16px) or relative units (e.g., 100%).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font-weight: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Determines the thickness or boldness of the font. It can be set to values like </a:t>
            </a: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"normal", "bold"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, or specified using numeric values (e.g., 400, 700) for finer control.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font-style: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Defines the style of the font, such as </a:t>
            </a: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"normal" (default), "italic", or "oblique".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Italic and oblique styles slant the characters to give them a distinct appearance.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font-variant: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Modifies the appearance of the font by enabling small caps or other variations. It can be set to values like </a:t>
            </a: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"normal", "small-caps", or "all-small-caps".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3764880" y="409680"/>
            <a:ext cx="3829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Text Styling with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522360" y="1412280"/>
            <a:ext cx="4910760" cy="46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2" spcCol="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Color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body { color: blue;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color: green;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3834360" y="1002960"/>
            <a:ext cx="3689640" cy="74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Alignment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center;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h2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left;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right;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justify;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7657920" y="1418760"/>
            <a:ext cx="413892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Text Spacing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p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  text-indent: 50px;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518760" y="945360"/>
            <a:ext cx="5501520" cy="24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Text Transformation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h1 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text-transform</a:t>
            </a: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: uppercase;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  text-transform: lowercase;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  text-transform: capitalize;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786240" y="3819240"/>
            <a:ext cx="609732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Text Shadow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text-shadow: 2px 2px 5px red;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6388200" y="1747800"/>
            <a:ext cx="5302440" cy="478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overline;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h2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line-through;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underline;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82" name="Rectangle 9"/>
          <p:cNvSpPr/>
          <p:nvPr/>
        </p:nvSpPr>
        <p:spPr>
          <a:xfrm>
            <a:off x="6415560" y="945360"/>
            <a:ext cx="3453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800280" lvl="1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Decoration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435240" y="474840"/>
            <a:ext cx="5446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Background Properties in CSS: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775440" y="1041120"/>
            <a:ext cx="11058480" cy="762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background-image: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background image to be displayed. It can be a URL pointing to an image file or a gradient created using the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linear-gradient() or radial-gradient() functions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background-color: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Sets the background color for an element. It can be specified using color names, hexadecimal values, RGB values, or HSL values.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background-repeat: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Determines how the background image is repeated if it is smaller than the element's size. Values include repeat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(default), repeat-x, repeat-y, and no-repeat.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background-position: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starting position of the background image. It can be set using keywords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like left, center, right, top, bottom, or using percentage or length values.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background-size: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Sets the size of the background image. It can be specified using keywords like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cover, contain, or using length values, such as px, em, or percentage values.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"/>
          <p:cNvSpPr/>
          <p:nvPr/>
        </p:nvSpPr>
        <p:spPr>
          <a:xfrm>
            <a:off x="866520" y="711000"/>
            <a:ext cx="10523520" cy="461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background-attachment: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Determines whether the background image scrolls with the content or remains fixed. Values include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scroll (default) and fixed.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background-clip: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area where the background image or color is visible. It can be set to border-box, padding-box, or content-box.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background-gradient: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Represents a CSS gradient that can be used as the background. Gradients can be linear or radial and can include multiple color stops.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3854880" y="644760"/>
            <a:ext cx="3382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2F3542"/>
                </a:solidFill>
                <a:latin typeface="Titillium Web"/>
                <a:ea typeface="DejaVu Sans"/>
              </a:rPr>
              <a:t> </a:t>
            </a: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List Styling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348840" y="1454760"/>
            <a:ext cx="5173920" cy="30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list-style-type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Ul  li 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  list-style-type: circle;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ol  li{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  list-style-type: lower-alpha;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5501520" y="1598400"/>
            <a:ext cx="550620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list-style-image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ul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  list-style-image: url("logo.png");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432360" y="4634640"/>
            <a:ext cx="46281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list-style-position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ul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  list-style-position: outside;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5660640" y="3321360"/>
            <a:ext cx="348984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list-style-color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ul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  list-style-color: red;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1" name="Rectangle 12"/>
          <p:cNvSpPr/>
          <p:nvPr/>
        </p:nvSpPr>
        <p:spPr>
          <a:xfrm>
            <a:off x="5914800" y="4972320"/>
            <a:ext cx="60951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ul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list-style: circle outside url("logo.png");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3723480" y="579600"/>
            <a:ext cx="4474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Margin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931680" y="1386720"/>
            <a:ext cx="1049760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In CSS, margin properties are used to control the spacing and positioning of elements by defining the space around an element's content.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1950840" y="2501640"/>
            <a:ext cx="7675920" cy="41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margin-bottom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bottom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margin-top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top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margin-left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left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margin-right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right margin of an element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1147680" y="997560"/>
            <a:ext cx="31543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on all sides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1317240" y="1585440"/>
            <a:ext cx="23756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 10px;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4718520" y="997560"/>
            <a:ext cx="43232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on individual sides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5229360" y="1585440"/>
            <a:ext cx="609516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margin-top: 7px;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margin-right: 12px;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margin-bottom: 15px;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margin-left: 8px;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Margin:auto;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1056960" y="3231360"/>
            <a:ext cx="42138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in shorthand form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0" name="Rectangle 9"/>
          <p:cNvSpPr/>
          <p:nvPr/>
        </p:nvSpPr>
        <p:spPr>
          <a:xfrm>
            <a:off x="1080000" y="3862080"/>
            <a:ext cx="58154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 22px 25px 17px 18px;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top, right, bottom, and left margins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3460680" y="736200"/>
            <a:ext cx="4671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Padding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1644480" y="1551240"/>
            <a:ext cx="83030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In CSS, padding properties are used to control the spacing and size of the content area within an element.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1362960" y="2674080"/>
            <a:ext cx="9583200" cy="31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padding-bottom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bottom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padding-top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top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padding-left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left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padding-right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right padding of an element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3903840" y="540360"/>
            <a:ext cx="444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Border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1689480" y="1226880"/>
            <a:ext cx="8472600" cy="20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border-width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width of an element.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border-style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styling effect of an element.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border-color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color of an element.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6" name="Rectangle 4"/>
          <p:cNvSpPr/>
          <p:nvPr/>
        </p:nvSpPr>
        <p:spPr>
          <a:xfrm>
            <a:off x="3753360" y="3067920"/>
            <a:ext cx="609516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p.dotted {border-style: dotted;}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p.dashed {border-style: dashed;}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p.solid {border-style: solid;}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p.double {border-style: double;}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p.groove {border-style: groove;}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p.ridge {border-style: ridge;}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p.inset {border-style: inset;}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p.outset {border-style: outset;}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p.none {border-style: none;}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p.hidden {border-style: hidden;}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p.mix {border-style: dotted dashed solid double;}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4104720" y="370440"/>
            <a:ext cx="4104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CSS Display Properties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659520" y="832320"/>
            <a:ext cx="10993680" cy="64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block: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generates a block-level box. It starts on a new line and takes up the full width available.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inline: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generates an inline-level box. It does not start on a new line and only occupies the space necessary for its content.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inline-block: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generates a combination of inline and block-level behavior. It flows as an inline-level element but allows width, height, padding, and margin settings.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none: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is not displayed on the page. It is completely removed from the document flow and occupies no space.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flex: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becomes a flexible container. It enables flexible layouts using flexbox, allowing easy alignment and distribution of child elements.</a:t>
            </a:r>
            <a:endParaRPr lang="en-IN" sz="20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99FF"/>
                </a:solidFill>
                <a:latin typeface="Calibri"/>
                <a:ea typeface="DejaVu Sans"/>
              </a:rPr>
              <a:t>grid: </a:t>
            </a:r>
            <a:r>
              <a:rPr lang="en-US" sz="20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becomes a grid container. It enables grid-based layouts using CSS grid, providing powerful grid-based alignment and positioning capabilities.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3875400" y="488160"/>
            <a:ext cx="3751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CSS Table Properties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882000" y="1297800"/>
            <a:ext cx="23360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Table Borders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1558800" y="1843920"/>
            <a:ext cx="60429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table, th, td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border: 1px solid;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border-collapse: collapse;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5735520" y="1297800"/>
            <a:ext cx="24505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CSS Table Size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6486120" y="1843920"/>
            <a:ext cx="3613320" cy="24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table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width: 100%;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height: 70px;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4" name="Rectangle 11"/>
          <p:cNvSpPr/>
          <p:nvPr/>
        </p:nvSpPr>
        <p:spPr>
          <a:xfrm>
            <a:off x="1159920" y="3599640"/>
            <a:ext cx="261180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CSS Table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5" name="Rectangle 13"/>
          <p:cNvSpPr/>
          <p:nvPr/>
        </p:nvSpPr>
        <p:spPr>
          <a:xfrm>
            <a:off x="734400" y="4124160"/>
            <a:ext cx="3521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Horizontal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6" name="Rectangle 15"/>
          <p:cNvSpPr/>
          <p:nvPr/>
        </p:nvSpPr>
        <p:spPr>
          <a:xfrm>
            <a:off x="1477440" y="4555080"/>
            <a:ext cx="29257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text-align: center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7" name="Rectangle 17"/>
          <p:cNvSpPr/>
          <p:nvPr/>
        </p:nvSpPr>
        <p:spPr>
          <a:xfrm>
            <a:off x="784440" y="5001840"/>
            <a:ext cx="309816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Vertical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8" name="Rectangle 19"/>
          <p:cNvSpPr/>
          <p:nvPr/>
        </p:nvSpPr>
        <p:spPr>
          <a:xfrm>
            <a:off x="1270800" y="5516280"/>
            <a:ext cx="440712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vertical-align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like top, bottom, or middle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2"/>
          <p:cNvSpPr/>
          <p:nvPr/>
        </p:nvSpPr>
        <p:spPr>
          <a:xfrm>
            <a:off x="34920" y="375480"/>
            <a:ext cx="61779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The position Property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0" name="Rectangle 4"/>
          <p:cNvSpPr/>
          <p:nvPr/>
        </p:nvSpPr>
        <p:spPr>
          <a:xfrm>
            <a:off x="944640" y="1036800"/>
            <a:ext cx="2951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The position Property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1" name="Rectangle 6"/>
          <p:cNvSpPr/>
          <p:nvPr/>
        </p:nvSpPr>
        <p:spPr>
          <a:xfrm>
            <a:off x="2801880" y="1567800"/>
            <a:ext cx="294696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static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relative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fixed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absolute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sticky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2" name="Rectangle 7"/>
          <p:cNvSpPr/>
          <p:nvPr/>
        </p:nvSpPr>
        <p:spPr>
          <a:xfrm>
            <a:off x="3453840" y="3783240"/>
            <a:ext cx="5537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66FF66"/>
                </a:solidFill>
                <a:latin typeface="Segoe UI"/>
                <a:ea typeface="DejaVu Sans"/>
              </a:rPr>
              <a:t>CSS Layout - The z-index Property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1097280" y="4481640"/>
            <a:ext cx="8908200" cy="109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 z-index property specifies the stack order of an element (which element should be placed in front of, or behind, the others).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6081840" y="406440"/>
            <a:ext cx="44802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Opacity / Transparency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5" name="Rectangle 12"/>
          <p:cNvSpPr/>
          <p:nvPr/>
        </p:nvSpPr>
        <p:spPr>
          <a:xfrm>
            <a:off x="5274000" y="1567800"/>
            <a:ext cx="609516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opacity property can take a value from 0.0 - 1.0. The lower the value, the more transparent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/>
          <p:nvPr/>
        </p:nvSpPr>
        <p:spPr>
          <a:xfrm>
            <a:off x="3517560" y="373680"/>
            <a:ext cx="459612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Overflow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1199880" y="1099080"/>
            <a:ext cx="9968040" cy="27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66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visible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Default. The overflow is not clipped. The content renders outside the element's box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hidden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The overflow is clipped, and the rest of the content will be invisible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scroll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The overflow is clipped, and a scrollbar is added to see the rest of the content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auto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Similar to scroll, but it adds scrollbars only when necessary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3442680" y="3425040"/>
            <a:ext cx="49298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float and clear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1754640" y="4088880"/>
            <a:ext cx="961344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left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floats to the left of its container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right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floats to the right of its container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none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does not float (will be displayed just where it occurs in the text). This is default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inherit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inherits the float value of its parent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2"/>
          <p:cNvSpPr/>
          <p:nvPr/>
        </p:nvSpPr>
        <p:spPr>
          <a:xfrm>
            <a:off x="3884400" y="788400"/>
            <a:ext cx="34135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Media Queries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997200" y="1736280"/>
            <a:ext cx="9979200" cy="505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Media queries in CSS3 extended the CSS2 media types idea: Instead of looking for a type of device, they look at the capability of the device.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Media queries can be used to check many things, such as: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width and height of the viewport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width and height of the device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orientation (is the tablet/phone in landscape or portrait mode?)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resolution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Using media queries are a popular technique for delivering a tailored style sheet to desktops, laptops, tablets, and mobile phones (such as iPhone and Android phones).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3"/>
          <p:cNvSpPr/>
          <p:nvPr/>
        </p:nvSpPr>
        <p:spPr>
          <a:xfrm>
            <a:off x="4705200" y="527400"/>
            <a:ext cx="23025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Segoe UI"/>
                <a:ea typeface="DejaVu Sans"/>
              </a:rPr>
              <a:t>Media Types</a:t>
            </a:r>
            <a:endParaRPr lang="en-IN" sz="2400" b="0" strike="noStrike" spc="-1">
              <a:latin typeface="Arial"/>
            </a:endParaRPr>
          </a:p>
        </p:txBody>
      </p:sp>
      <p:graphicFrame>
        <p:nvGraphicFramePr>
          <p:cNvPr id="133" name="Table 6"/>
          <p:cNvGraphicFramePr/>
          <p:nvPr/>
        </p:nvGraphicFramePr>
        <p:xfrm>
          <a:off x="2087640" y="1397520"/>
          <a:ext cx="8294400" cy="2804160"/>
        </p:xfrm>
        <a:graphic>
          <a:graphicData uri="http://schemas.openxmlformats.org/drawingml/2006/table">
            <a:tbl>
              <a:tblPr/>
              <a:tblGrid>
                <a:gridCol w="2071080"/>
                <a:gridCol w="622332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Value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Description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all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all media type devices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print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printers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screen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computer screens, tablets, smart-phones etc.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speech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screen readers that "reads" the page out loud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</a:tr>
            </a:tbl>
          </a:graphicData>
        </a:graphic>
      </p:graphicFrame>
      <p:sp>
        <p:nvSpPr>
          <p:cNvPr id="134" name="Rectangle 8"/>
          <p:cNvSpPr/>
          <p:nvPr/>
        </p:nvSpPr>
        <p:spPr>
          <a:xfrm>
            <a:off x="3186720" y="4914720"/>
            <a:ext cx="6095160" cy="21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@media screen and (min-width: 480px)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body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background-color: lightgreen;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}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1711</TotalTime>
  <Words>1676</Words>
  <Application>Microsoft Office PowerPoint</Application>
  <PresentationFormat>Custom</PresentationFormat>
  <Paragraphs>283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Isysway</dc:creator>
  <dc:description/>
  <cp:lastModifiedBy>admin</cp:lastModifiedBy>
  <cp:revision>42</cp:revision>
  <dcterms:created xsi:type="dcterms:W3CDTF">2023-12-13T07:09:06Z</dcterms:created>
  <dcterms:modified xsi:type="dcterms:W3CDTF">2025-11-12T10:58:45Z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23</vt:i4>
  </property>
</Properties>
</file>