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-73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5D68390-5838-4D9C-BE3D-0EB7426B7C4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3BB0D78-6446-43AE-87E5-5B38986971CF}" type="slidenum">
              <a:t>‹#›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8759D34-BB17-45BB-8540-D8FFB8B9AC4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2849A56-244F-4C76-96A8-4AE904785A44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E1520BA-1310-4192-B889-126B4EE2414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6300E35-083F-4768-AE43-1B220D44C8B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B074B94-42E6-4E4E-8907-857C839E14F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846280D-BF73-4DF9-8B33-530C82B71B6C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305B10D-AABF-4100-B34B-F703B285229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23BCC14-F4BA-402D-9AFE-49E6B0387B24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FB3008C-DBBE-46EA-BAB8-E205803426A8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0FD9B65-DAAC-4043-B9DD-061341832D4A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Celestia-R1---OverlayContentHD.png"/>
          <p:cNvPicPr/>
          <p:nvPr/>
        </p:nvPicPr>
        <p:blipFill>
          <a:blip r:embed="rId15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ftr" idx="1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IN" sz="1400" b="0" strike="noStrike" spc="-1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IN" sz="1400" b="0" strike="noStrike" spc="-1">
                <a:latin typeface="Times New Roman"/>
              </a:rPr>
              <a:t> 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sldNum" idx="2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10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7C1A2E9-A231-4F59-AA2F-93DD6144D680}" type="slidenum">
              <a:rPr lang="en-US" sz="1000" b="0" strike="noStrike" spc="-1">
                <a:solidFill>
                  <a:srgbClr val="FFFFFF"/>
                </a:solidFill>
                <a:latin typeface="Calibri"/>
              </a:rPr>
              <a:t>‹#›</a:t>
            </a:fld>
            <a:endParaRPr lang="en-IN" sz="1000" b="0" strike="noStrike" spc="-1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3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IN" sz="1400" b="0" strike="noStrike" spc="-1">
                <a:latin typeface="Times New Roman"/>
              </a:defRPr>
            </a:lvl1pPr>
          </a:lstStyle>
          <a:p>
            <a:r>
              <a:rPr lang="en-IN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IN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"/>
          <p:cNvSpPr/>
          <p:nvPr/>
        </p:nvSpPr>
        <p:spPr>
          <a:xfrm>
            <a:off x="3178800" y="710280"/>
            <a:ext cx="554868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66FF66"/>
                </a:solidFill>
                <a:latin typeface="Segoe UI Black"/>
                <a:ea typeface="Segoe UI Black"/>
              </a:rPr>
              <a:t>Cascading Style Sheets (CSS) </a:t>
            </a:r>
            <a:endParaRPr lang="en-IN" sz="2800" b="0" strike="noStrike" spc="-1">
              <a:latin typeface="Arial"/>
            </a:endParaRPr>
          </a:p>
        </p:txBody>
      </p:sp>
      <p:sp>
        <p:nvSpPr>
          <p:cNvPr id="43" name="Rectangle 6"/>
          <p:cNvSpPr/>
          <p:nvPr/>
        </p:nvSpPr>
        <p:spPr>
          <a:xfrm>
            <a:off x="906840" y="1285560"/>
            <a:ext cx="10092600" cy="338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400" b="1" strike="noStrike" spc="-1" dirty="0">
                <a:solidFill>
                  <a:srgbClr val="FFFF00"/>
                </a:solidFill>
                <a:latin typeface="Bahnschrift"/>
                <a:ea typeface="DejaVu Sans"/>
              </a:rPr>
              <a:t>CSS, or Cascading Style Sheets, is a styling language used to add visual style and layout to web documents written in HTML and XHTML. With CSS, web developers can separate the presentation of a web page from its content, making it easier to manage and update the appearance of a website.</a:t>
            </a:r>
            <a:endParaRPr lang="en-IN" sz="2400" b="0" strike="noStrike" spc="-1" dirty="0">
              <a:latin typeface="Arial"/>
            </a:endParaRPr>
          </a:p>
        </p:txBody>
      </p:sp>
      <p:sp>
        <p:nvSpPr>
          <p:cNvPr id="44" name="Rectangle 7"/>
          <p:cNvSpPr/>
          <p:nvPr/>
        </p:nvSpPr>
        <p:spPr>
          <a:xfrm>
            <a:off x="1354320" y="4443480"/>
            <a:ext cx="244296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FF66FF"/>
                </a:solidFill>
                <a:latin typeface="Calibri"/>
                <a:ea typeface="DejaVu Sans"/>
              </a:rPr>
              <a:t>CSS Syntax</a:t>
            </a:r>
            <a:endParaRPr lang="en-IN" sz="2800" b="0" strike="noStrike" spc="-1">
              <a:latin typeface="Arial"/>
            </a:endParaRPr>
          </a:p>
        </p:txBody>
      </p:sp>
      <p:sp>
        <p:nvSpPr>
          <p:cNvPr id="45" name="Rectangle 9"/>
          <p:cNvSpPr/>
          <p:nvPr/>
        </p:nvSpPr>
        <p:spPr>
          <a:xfrm>
            <a:off x="2880000" y="5220000"/>
            <a:ext cx="6095160" cy="155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h1{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	color:blue;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	font-size:12px;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254600" y="4844160"/>
            <a:ext cx="2443680" cy="50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FF66FF"/>
                </a:solidFill>
                <a:latin typeface="Calibri"/>
              </a:rPr>
              <a:t>CSS Syntax</a:t>
            </a:r>
            <a:endParaRPr lang="en-IN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"/>
          <p:cNvSpPr/>
          <p:nvPr/>
        </p:nvSpPr>
        <p:spPr>
          <a:xfrm>
            <a:off x="1807920" y="723240"/>
            <a:ext cx="87109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66FF66"/>
                </a:solidFill>
                <a:latin typeface="Segoe UI Black"/>
                <a:ea typeface="Segoe UI Black"/>
              </a:rPr>
              <a:t>Understanding CSS Syntax: The Building Blocks of Style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48" name="Rectangle 4"/>
          <p:cNvSpPr/>
          <p:nvPr/>
        </p:nvSpPr>
        <p:spPr>
          <a:xfrm>
            <a:off x="1055520" y="1383480"/>
            <a:ext cx="10796040" cy="411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FF66FF"/>
                </a:solidFill>
                <a:latin typeface="Consolas"/>
                <a:ea typeface="DejaVu Sans"/>
              </a:rPr>
              <a:t>Selector</a:t>
            </a: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FFFF00"/>
                </a:solidFill>
                <a:latin typeface="Consolas"/>
                <a:ea typeface="DejaVu Sans"/>
              </a:rPr>
              <a:t>	A selector is an HTML tag at which a style will be applied.</a:t>
            </a: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FF66FF"/>
                </a:solidFill>
                <a:latin typeface="Consolas"/>
                <a:ea typeface="DejaVu Sans"/>
              </a:rPr>
              <a:t>Property</a:t>
            </a: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FFFF00"/>
                </a:solidFill>
                <a:latin typeface="Consolas"/>
                <a:ea typeface="DejaVu Sans"/>
              </a:rPr>
              <a:t>	A property is a type of attribute of HTML tag. Put simply, all the 	HTML attributes are converted into CSS properties.</a:t>
            </a: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FF66FF"/>
                </a:solidFill>
                <a:latin typeface="Consolas"/>
                <a:ea typeface="DejaVu Sans"/>
              </a:rPr>
              <a:t>Value</a:t>
            </a: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FFFF00"/>
                </a:solidFill>
                <a:latin typeface="Consolas"/>
                <a:ea typeface="DejaVu Sans"/>
              </a:rPr>
              <a:t>	Values are assigned to properties.</a:t>
            </a:r>
            <a:endParaRPr lang="en-IN" sz="2400" b="0" strike="noStrike" spc="-1" dirty="0">
              <a:latin typeface="Arial"/>
            </a:endParaRPr>
          </a:p>
        </p:txBody>
      </p:sp>
      <p:sp>
        <p:nvSpPr>
          <p:cNvPr id="49" name="Rectangle 6"/>
          <p:cNvSpPr/>
          <p:nvPr/>
        </p:nvSpPr>
        <p:spPr>
          <a:xfrm>
            <a:off x="2092320" y="4680000"/>
            <a:ext cx="1557360" cy="13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FFFFFF"/>
                </a:solidFill>
                <a:latin typeface="Calibri"/>
                <a:ea typeface="DejaVu Sans"/>
              </a:rPr>
              <a:t>Syntax</a:t>
            </a:r>
            <a:endParaRPr lang="en-IN" sz="2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IN" sz="2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IN" sz="2800" b="0" strike="noStrike" spc="-1">
              <a:latin typeface="Arial"/>
            </a:endParaRPr>
          </a:p>
        </p:txBody>
      </p:sp>
      <p:sp>
        <p:nvSpPr>
          <p:cNvPr id="50" name="Rectangle 8"/>
          <p:cNvSpPr/>
          <p:nvPr/>
        </p:nvSpPr>
        <p:spPr>
          <a:xfrm>
            <a:off x="2141280" y="5558400"/>
            <a:ext cx="47088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 dirty="0">
                <a:solidFill>
                  <a:srgbClr val="FFFFFF"/>
                </a:solidFill>
                <a:latin typeface="Bahnschrift"/>
                <a:ea typeface="DejaVu Sans"/>
              </a:rPr>
              <a:t>selector { property : value ; }</a:t>
            </a:r>
            <a:endParaRPr lang="en-IN" sz="2400" b="0" strike="noStrike" spc="-1" dirty="0">
              <a:latin typeface="Arial"/>
            </a:endParaRPr>
          </a:p>
        </p:txBody>
      </p:sp>
      <p:sp>
        <p:nvSpPr>
          <p:cNvPr id="51" name="Rectangle 3"/>
          <p:cNvSpPr/>
          <p:nvPr/>
        </p:nvSpPr>
        <p:spPr>
          <a:xfrm>
            <a:off x="6767280" y="5589360"/>
            <a:ext cx="29228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FFFFFF"/>
                </a:solidFill>
                <a:latin typeface="Consolas"/>
                <a:ea typeface="DejaVu Sans"/>
              </a:rPr>
              <a:t>h1{</a:t>
            </a:r>
            <a:r>
              <a:rPr lang="en-US" sz="2400" b="1" strike="noStrike" spc="-1" dirty="0" err="1">
                <a:solidFill>
                  <a:srgbClr val="FFFFFF"/>
                </a:solidFill>
                <a:latin typeface="Consolas"/>
                <a:ea typeface="DejaVu Sans"/>
              </a:rPr>
              <a:t>color:blue</a:t>
            </a:r>
            <a:r>
              <a:rPr lang="en-US" sz="2400" b="1" strike="noStrike" spc="-1" dirty="0">
                <a:solidFill>
                  <a:srgbClr val="FFFFFF"/>
                </a:solidFill>
                <a:latin typeface="Consolas"/>
                <a:ea typeface="DejaVu Sans"/>
              </a:rPr>
              <a:t>;}</a:t>
            </a:r>
            <a:endParaRPr lang="en-IN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2"/>
          <p:cNvSpPr/>
          <p:nvPr/>
        </p:nvSpPr>
        <p:spPr>
          <a:xfrm>
            <a:off x="4700160" y="193680"/>
            <a:ext cx="22874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rgbClr val="66FF66"/>
                </a:solidFill>
                <a:latin typeface="Segoe UI Black"/>
                <a:ea typeface="Segoe UI Black"/>
              </a:rPr>
              <a:t>CSS Selectors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53" name="Rectangle 4"/>
          <p:cNvSpPr/>
          <p:nvPr/>
        </p:nvSpPr>
        <p:spPr>
          <a:xfrm>
            <a:off x="593640" y="1348920"/>
            <a:ext cx="3624840" cy="557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Element( tagname)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h1{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	color:red;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} </a:t>
            </a:r>
            <a:r>
              <a:rPr sz="2400"/>
              <a:t/>
            </a:r>
            <a:br>
              <a:rPr sz="2400"/>
            </a:br>
            <a:endParaRPr lang="en-IN" sz="2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Class (.)	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.para{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color:green;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ID (#)</a:t>
            </a:r>
            <a:endParaRPr lang="en-IN" sz="2400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#para{</a:t>
            </a:r>
            <a:endParaRPr lang="en-IN" sz="2400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	color:red;</a:t>
            </a:r>
            <a:endParaRPr lang="en-IN" sz="2400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54" name="Rectangle 9"/>
          <p:cNvSpPr/>
          <p:nvPr/>
        </p:nvSpPr>
        <p:spPr>
          <a:xfrm>
            <a:off x="3840840" y="923760"/>
            <a:ext cx="36727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4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Universal Selector</a:t>
            </a:r>
            <a:endParaRPr lang="en-IN" sz="2400" b="0" strike="noStrike" spc="-1" dirty="0">
              <a:latin typeface="Arial"/>
            </a:endParaRPr>
          </a:p>
        </p:txBody>
      </p:sp>
      <p:sp>
        <p:nvSpPr>
          <p:cNvPr id="55" name="Rectangle 11"/>
          <p:cNvSpPr/>
          <p:nvPr/>
        </p:nvSpPr>
        <p:spPr>
          <a:xfrm>
            <a:off x="4945680" y="1407240"/>
            <a:ext cx="2934000" cy="22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*{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	margin:0px;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	padding:0px;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56" name="Rectangle 12"/>
          <p:cNvSpPr/>
          <p:nvPr/>
        </p:nvSpPr>
        <p:spPr>
          <a:xfrm>
            <a:off x="3330000" y="2998800"/>
            <a:ext cx="40888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4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Descendant Selector</a:t>
            </a:r>
            <a:endParaRPr lang="en-IN" sz="2400" b="0" strike="noStrike" spc="-1" dirty="0">
              <a:latin typeface="Arial"/>
            </a:endParaRPr>
          </a:p>
        </p:txBody>
      </p:sp>
      <p:sp>
        <p:nvSpPr>
          <p:cNvPr id="57" name="Rectangle 14"/>
          <p:cNvSpPr/>
          <p:nvPr/>
        </p:nvSpPr>
        <p:spPr>
          <a:xfrm>
            <a:off x="4709880" y="3369240"/>
            <a:ext cx="3405960" cy="22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 dirty="0" err="1">
                <a:solidFill>
                  <a:srgbClr val="FF99FF"/>
                </a:solidFill>
                <a:latin typeface="Calibri"/>
                <a:ea typeface="DejaVu Sans"/>
              </a:rPr>
              <a:t>ul</a:t>
            </a:r>
            <a:r>
              <a:rPr lang="en-US" sz="2400" b="1" strike="noStrike" spc="-1" dirty="0">
                <a:solidFill>
                  <a:srgbClr val="FF99FF"/>
                </a:solidFill>
                <a:latin typeface="Calibri"/>
                <a:ea typeface="DejaVu Sans"/>
              </a:rPr>
              <a:t> li{</a:t>
            </a: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FF99FF"/>
                </a:solidFill>
                <a:latin typeface="Calibri"/>
                <a:ea typeface="DejaVu Sans"/>
              </a:rPr>
              <a:t>	</a:t>
            </a:r>
            <a:r>
              <a:rPr lang="en-US" sz="2400" b="1" strike="noStrike" spc="-1" dirty="0" err="1">
                <a:solidFill>
                  <a:srgbClr val="FF99FF"/>
                </a:solidFill>
                <a:latin typeface="Calibri"/>
                <a:ea typeface="DejaVu Sans"/>
              </a:rPr>
              <a:t>font-family:roboto</a:t>
            </a:r>
            <a:r>
              <a:rPr lang="en-US" sz="2400" b="1" strike="noStrike" spc="-1" dirty="0">
                <a:solidFill>
                  <a:srgbClr val="FF99FF"/>
                </a:solidFill>
                <a:latin typeface="Calibri"/>
                <a:ea typeface="DejaVu Sans"/>
              </a:rPr>
              <a:t>;</a:t>
            </a: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FF99FF"/>
                </a:solidFill>
                <a:latin typeface="Calibri"/>
                <a:ea typeface="DejaVu Sans"/>
              </a:rPr>
              <a:t>	color:#8000ff;</a:t>
            </a: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FF99FF"/>
                </a:solidFill>
                <a:latin typeface="Calibri"/>
                <a:ea typeface="DejaVu Sans"/>
              </a:rPr>
              <a:t>}</a:t>
            </a:r>
            <a:endParaRPr lang="en-IN" sz="2400" b="0" strike="noStrike" spc="-1" dirty="0">
              <a:latin typeface="Arial"/>
            </a:endParaRPr>
          </a:p>
        </p:txBody>
      </p:sp>
      <p:sp>
        <p:nvSpPr>
          <p:cNvPr id="58" name="Rectangle 15"/>
          <p:cNvSpPr/>
          <p:nvPr/>
        </p:nvSpPr>
        <p:spPr>
          <a:xfrm>
            <a:off x="3386520" y="4903200"/>
            <a:ext cx="29246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Child Selector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59" name="Rectangle 17"/>
          <p:cNvSpPr/>
          <p:nvPr/>
        </p:nvSpPr>
        <p:spPr>
          <a:xfrm>
            <a:off x="5198400" y="5264280"/>
            <a:ext cx="3341160" cy="19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FF99FF"/>
                </a:solidFill>
                <a:latin typeface="Calibri"/>
                <a:ea typeface="DejaVu Sans"/>
              </a:rPr>
              <a:t>div &gt; p {</a:t>
            </a: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FF99FF"/>
                </a:solidFill>
                <a:latin typeface="Calibri"/>
                <a:ea typeface="DejaVu Sans"/>
              </a:rPr>
              <a:t>   </a:t>
            </a:r>
            <a:r>
              <a:rPr lang="en-US" sz="2400" b="1" strike="noStrike" spc="-1" dirty="0" err="1">
                <a:solidFill>
                  <a:srgbClr val="FF99FF"/>
                </a:solidFill>
                <a:latin typeface="Calibri"/>
                <a:ea typeface="DejaVu Sans"/>
              </a:rPr>
              <a:t>color:red</a:t>
            </a:r>
            <a:r>
              <a:rPr lang="en-US" sz="2400" b="1" strike="noStrike" spc="-1" dirty="0">
                <a:solidFill>
                  <a:srgbClr val="FF99FF"/>
                </a:solidFill>
                <a:latin typeface="Calibri"/>
                <a:ea typeface="DejaVu Sans"/>
              </a:rPr>
              <a:t>;</a:t>
            </a: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FF99FF"/>
                </a:solidFill>
                <a:latin typeface="Calibri"/>
                <a:ea typeface="DejaVu Sans"/>
              </a:rPr>
              <a:t>   line-height:30px;</a:t>
            </a: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FF99FF"/>
                </a:solidFill>
                <a:latin typeface="Calibri"/>
                <a:ea typeface="DejaVu Sans"/>
              </a:rPr>
              <a:t>}</a:t>
            </a:r>
            <a:endParaRPr lang="en-IN" sz="2400" b="0" strike="noStrike" spc="-1" dirty="0">
              <a:latin typeface="Arial"/>
            </a:endParaRPr>
          </a:p>
        </p:txBody>
      </p:sp>
      <p:sp>
        <p:nvSpPr>
          <p:cNvPr id="60" name="Rectangle 19"/>
          <p:cNvSpPr/>
          <p:nvPr/>
        </p:nvSpPr>
        <p:spPr>
          <a:xfrm>
            <a:off x="7406640" y="1118160"/>
            <a:ext cx="36288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Attribute Selector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61" name="Rectangle 21"/>
          <p:cNvSpPr/>
          <p:nvPr/>
        </p:nvSpPr>
        <p:spPr>
          <a:xfrm>
            <a:off x="8606880" y="1585440"/>
            <a:ext cx="3434040" cy="19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FF99FF"/>
                </a:solidFill>
                <a:latin typeface="Calibri"/>
                <a:ea typeface="DejaVu Sans"/>
              </a:rPr>
              <a:t>input[type = "text"] {</a:t>
            </a: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FF99FF"/>
                </a:solidFill>
                <a:latin typeface="Calibri"/>
                <a:ea typeface="DejaVu Sans"/>
              </a:rPr>
              <a:t>   border: 1px solid #00dfdf; </a:t>
            </a: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FF99FF"/>
                </a:solidFill>
                <a:latin typeface="Calibri"/>
                <a:ea typeface="DejaVu Sans"/>
              </a:rPr>
              <a:t>}</a:t>
            </a:r>
            <a:endParaRPr lang="en-IN" sz="2400" b="0" strike="noStrike" spc="-1" dirty="0">
              <a:latin typeface="Arial"/>
            </a:endParaRPr>
          </a:p>
        </p:txBody>
      </p:sp>
      <p:sp>
        <p:nvSpPr>
          <p:cNvPr id="62" name="Rectangle 23"/>
          <p:cNvSpPr/>
          <p:nvPr/>
        </p:nvSpPr>
        <p:spPr>
          <a:xfrm>
            <a:off x="7423200" y="3138480"/>
            <a:ext cx="36392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Grouping Selector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63" name="Rectangle 27"/>
          <p:cNvSpPr/>
          <p:nvPr/>
        </p:nvSpPr>
        <p:spPr>
          <a:xfrm>
            <a:off x="8325360" y="3795840"/>
            <a:ext cx="4320000" cy="22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h1,h2,h3,h4,h5,h6,b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{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	color:red;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	font-family:rockwell;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2"/>
          <p:cNvSpPr/>
          <p:nvPr/>
        </p:nvSpPr>
        <p:spPr>
          <a:xfrm>
            <a:off x="1955520" y="997560"/>
            <a:ext cx="272016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FF99FF"/>
              </a:buClr>
              <a:buFont typeface="Wingdings" charset="2"/>
              <a:buChar char=""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Inline  CSS</a:t>
            </a:r>
            <a:endParaRPr lang="en-IN" sz="2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99FF"/>
              </a:buClr>
              <a:buFont typeface="Wingdings" charset="2"/>
              <a:buChar char=""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Internal CSS</a:t>
            </a:r>
            <a:endParaRPr lang="en-IN" sz="24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99FF"/>
              </a:buClr>
              <a:buFont typeface="Wingdings" charset="2"/>
              <a:buChar char=""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External CSS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65" name="TextBox 3"/>
          <p:cNvSpPr/>
          <p:nvPr/>
        </p:nvSpPr>
        <p:spPr>
          <a:xfrm>
            <a:off x="4369320" y="339480"/>
            <a:ext cx="1852920" cy="9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66FF66"/>
                </a:solidFill>
                <a:latin typeface="Calibri"/>
                <a:ea typeface="DejaVu Sans"/>
              </a:rPr>
              <a:t>CSS types</a:t>
            </a:r>
            <a:endParaRPr lang="en-IN" sz="2800" b="0" strike="noStrike" spc="-1">
              <a:latin typeface="Arial"/>
            </a:endParaRPr>
          </a:p>
        </p:txBody>
      </p:sp>
      <p:sp>
        <p:nvSpPr>
          <p:cNvPr id="66" name="Rectangle 4"/>
          <p:cNvSpPr/>
          <p:nvPr/>
        </p:nvSpPr>
        <p:spPr>
          <a:xfrm>
            <a:off x="559800" y="2332440"/>
            <a:ext cx="36468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Titillium Web"/>
                <a:ea typeface="DejaVu Sans"/>
              </a:rPr>
              <a:t>Inline Styling in CSS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67" name="Rectangle 6"/>
          <p:cNvSpPr/>
          <p:nvPr/>
        </p:nvSpPr>
        <p:spPr>
          <a:xfrm>
            <a:off x="0" y="2778840"/>
            <a:ext cx="8534160" cy="82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&lt;</a:t>
            </a:r>
            <a:r>
              <a:rPr lang="en-US" sz="2400" b="1" strike="noStrike" spc="-1" dirty="0" err="1">
                <a:solidFill>
                  <a:srgbClr val="FFFF00"/>
                </a:solidFill>
                <a:latin typeface="Calibri"/>
                <a:ea typeface="DejaVu Sans"/>
              </a:rPr>
              <a:t>tagname</a:t>
            </a:r>
            <a:r>
              <a:rPr lang="en-US" sz="24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 style="property: value;"&gt;</a:t>
            </a: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&lt;p style="</a:t>
            </a:r>
            <a:r>
              <a:rPr lang="en-US" sz="2400" b="1" strike="noStrike" spc="-1" dirty="0" err="1">
                <a:solidFill>
                  <a:srgbClr val="FFFF00"/>
                </a:solidFill>
                <a:latin typeface="Calibri"/>
                <a:ea typeface="DejaVu Sans"/>
              </a:rPr>
              <a:t>color:red</a:t>
            </a:r>
            <a:r>
              <a:rPr lang="en-US" sz="24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; </a:t>
            </a:r>
            <a:r>
              <a:rPr lang="en-US" sz="2400" b="1" strike="noStrike" spc="-1" dirty="0" err="1">
                <a:solidFill>
                  <a:srgbClr val="FFFF00"/>
                </a:solidFill>
                <a:latin typeface="Calibri"/>
                <a:ea typeface="DejaVu Sans"/>
              </a:rPr>
              <a:t>text-align:center</a:t>
            </a:r>
            <a:r>
              <a:rPr lang="en-US" sz="24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"&gt;.....&lt;/p&gt;</a:t>
            </a:r>
            <a:endParaRPr lang="en-IN" sz="2400" b="0" strike="noStrike" spc="-1" dirty="0">
              <a:latin typeface="Arial"/>
            </a:endParaRPr>
          </a:p>
        </p:txBody>
      </p:sp>
      <p:sp>
        <p:nvSpPr>
          <p:cNvPr id="68" name="Rectangle 8"/>
          <p:cNvSpPr/>
          <p:nvPr/>
        </p:nvSpPr>
        <p:spPr>
          <a:xfrm>
            <a:off x="7174800" y="1366920"/>
            <a:ext cx="23742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2F3542"/>
                </a:solidFill>
                <a:latin typeface="Titillium Web"/>
                <a:ea typeface="DejaVu Sans"/>
              </a:rPr>
              <a:t> </a:t>
            </a:r>
            <a:r>
              <a:rPr lang="en-US" sz="2400" b="1" strike="noStrike" spc="-1">
                <a:solidFill>
                  <a:srgbClr val="FFFFFF"/>
                </a:solidFill>
                <a:latin typeface="Titillium Web"/>
                <a:ea typeface="DejaVu Sans"/>
              </a:rPr>
              <a:t>Internal CSS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69" name="Rectangle 10"/>
          <p:cNvSpPr/>
          <p:nvPr/>
        </p:nvSpPr>
        <p:spPr>
          <a:xfrm>
            <a:off x="7423920" y="2020680"/>
            <a:ext cx="3952800" cy="374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 &lt;style&gt;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      h1{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        color:red; 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        background: black;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      }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      p{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         color:blue;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      }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  &lt;/style&gt;</a:t>
            </a:r>
            <a:endParaRPr lang="en-IN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2"/>
          <p:cNvSpPr/>
          <p:nvPr/>
        </p:nvSpPr>
        <p:spPr>
          <a:xfrm>
            <a:off x="1686600" y="1590480"/>
            <a:ext cx="6095160" cy="264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99FF"/>
                </a:solidFill>
                <a:latin typeface="Calibri"/>
                <a:ea typeface="DejaVu Sans"/>
              </a:rPr>
              <a:t>External style sheet </a:t>
            </a: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(style.css)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h1{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  color:blue;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p{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  color:red;</a:t>
            </a:r>
            <a:endParaRPr lang="en-IN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71" name="Rectangle 6"/>
          <p:cNvSpPr/>
          <p:nvPr/>
        </p:nvSpPr>
        <p:spPr>
          <a:xfrm>
            <a:off x="-275760" y="4694400"/>
            <a:ext cx="100198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 </a:t>
            </a: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&lt;link rel="stylesheet" href="style.css" type="text/css"&gt;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72" name="Rectangle 7"/>
          <p:cNvSpPr/>
          <p:nvPr/>
        </p:nvSpPr>
        <p:spPr>
          <a:xfrm>
            <a:off x="661320" y="915480"/>
            <a:ext cx="24836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Titillium Web"/>
                <a:ea typeface="DejaVu Sans"/>
              </a:rPr>
              <a:t> External CSS</a:t>
            </a:r>
            <a:endParaRPr lang="en-IN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623880" y="448920"/>
            <a:ext cx="40431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66FF66"/>
                </a:solidFill>
                <a:latin typeface="Titillium Web"/>
                <a:ea typeface="DejaVu Sans"/>
              </a:rPr>
              <a:t>Font Properties in CSS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74" name="Rectangle 3"/>
          <p:cNvSpPr/>
          <p:nvPr/>
        </p:nvSpPr>
        <p:spPr>
          <a:xfrm>
            <a:off x="878760" y="1112040"/>
            <a:ext cx="10694160" cy="51121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strike="noStrike" spc="-1" dirty="0">
                <a:solidFill>
                  <a:srgbClr val="FF99FF"/>
                </a:solidFill>
                <a:latin typeface="Calibri"/>
                <a:ea typeface="DejaVu Sans"/>
              </a:rPr>
              <a:t>font-family: </a:t>
            </a:r>
            <a:r>
              <a:rPr lang="en-US" sz="20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Specifies the font face or typeface to be used. You can provide </a:t>
            </a:r>
            <a:r>
              <a:rPr lang="en-US" sz="2000" b="1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multiple font names</a:t>
            </a:r>
            <a:r>
              <a:rPr lang="en-US" sz="20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, separated by commas, to define fallback options in case the desired font is not available.</a:t>
            </a:r>
            <a:endParaRPr lang="en-IN" sz="2000" b="0" strike="noStrike" spc="-1" dirty="0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000" b="1" strike="noStrike" spc="-1" dirty="0">
                <a:solidFill>
                  <a:srgbClr val="FF99FF"/>
                </a:solidFill>
                <a:latin typeface="Calibri"/>
                <a:ea typeface="DejaVu Sans"/>
              </a:rPr>
              <a:t>font-size:</a:t>
            </a:r>
            <a:r>
              <a:rPr lang="en-US" sz="20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 Sets the size of the font. It can be specified using absolute units like pixels </a:t>
            </a:r>
            <a:r>
              <a:rPr lang="en-US" sz="2000" b="1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(px) or relative units like percentages (%)</a:t>
            </a:r>
            <a:r>
              <a:rPr lang="en-US" sz="20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. Common values include pixels (e.g., 16px) or relative units (e.g., 100%).</a:t>
            </a:r>
            <a:endParaRPr lang="en-IN" sz="2000" b="0" strike="noStrike" spc="-1" dirty="0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000" b="1" strike="noStrike" spc="-1" dirty="0">
                <a:solidFill>
                  <a:srgbClr val="FF99FF"/>
                </a:solidFill>
                <a:latin typeface="Calibri"/>
                <a:ea typeface="DejaVu Sans"/>
              </a:rPr>
              <a:t> : </a:t>
            </a:r>
            <a:r>
              <a:rPr lang="en-US" sz="20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Determines the thickness or boldness of the font. It can be set to values like </a:t>
            </a:r>
            <a:r>
              <a:rPr lang="en-US" sz="2000" b="1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"normal", "bold"</a:t>
            </a:r>
            <a:r>
              <a:rPr lang="en-US" sz="20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, or specified using numeric values (e.g., 400, 700) for finer control.</a:t>
            </a:r>
            <a:endParaRPr lang="en-IN" sz="2000" b="0" strike="noStrike" spc="-1" dirty="0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000" b="1" strike="noStrike" spc="-1" dirty="0">
                <a:solidFill>
                  <a:srgbClr val="FF99FF"/>
                </a:solidFill>
                <a:latin typeface="Calibri"/>
                <a:ea typeface="DejaVu Sans"/>
              </a:rPr>
              <a:t>font-style: </a:t>
            </a:r>
            <a:r>
              <a:rPr lang="en-US" sz="20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Defines the style of the font, such as </a:t>
            </a:r>
            <a:r>
              <a:rPr lang="en-US" sz="2000" b="1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"normal" (default), "italic", or "oblique". </a:t>
            </a:r>
            <a:r>
              <a:rPr lang="en-US" sz="20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Italic and oblique styles slant the characters to give them a distinct appearance.</a:t>
            </a:r>
            <a:endParaRPr lang="en-IN" sz="2000" b="0" strike="noStrike" spc="-1" dirty="0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000" b="1" strike="noStrike" spc="-1" dirty="0">
                <a:solidFill>
                  <a:srgbClr val="FF99FF"/>
                </a:solidFill>
                <a:latin typeface="Calibri"/>
                <a:ea typeface="DejaVu Sans"/>
              </a:rPr>
              <a:t>font-variant: </a:t>
            </a:r>
            <a:r>
              <a:rPr lang="en-US" sz="20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Modifies the appearance of the font by enabling small caps or other variations. It can be set to values like </a:t>
            </a:r>
            <a:r>
              <a:rPr lang="en-US" sz="2000" b="1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"normal", "small-caps", or "all-small-caps".</a:t>
            </a:r>
            <a:endParaRPr lang="en-IN" sz="2000" b="0" strike="noStrike" spc="-1" dirty="0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endParaRPr lang="en-IN" sz="20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3764880" y="409680"/>
            <a:ext cx="38296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66FF66"/>
                </a:solidFill>
                <a:latin typeface="Titillium Web"/>
                <a:ea typeface="DejaVu Sans"/>
              </a:rPr>
              <a:t>Text Styling with CSS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76" name="Rectangle 3"/>
          <p:cNvSpPr/>
          <p:nvPr/>
        </p:nvSpPr>
        <p:spPr>
          <a:xfrm>
            <a:off x="522360" y="1412280"/>
            <a:ext cx="4910760" cy="46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2" spcCol="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Text Color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body { color: blue;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h1 {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  color: green;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endParaRPr lang="en-IN" sz="2400" b="0" strike="noStrike" spc="-1">
              <a:latin typeface="Arial"/>
            </a:endParaRPr>
          </a:p>
        </p:txBody>
      </p:sp>
      <p:sp>
        <p:nvSpPr>
          <p:cNvPr id="77" name="Rectangle 6"/>
          <p:cNvSpPr/>
          <p:nvPr/>
        </p:nvSpPr>
        <p:spPr>
          <a:xfrm>
            <a:off x="3834360" y="1002960"/>
            <a:ext cx="3689640" cy="740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400" b="1" strike="noStrike" spc="-1">
                <a:solidFill>
                  <a:srgbClr val="FFFF00"/>
                </a:solidFill>
                <a:latin typeface="Calibri"/>
                <a:ea typeface="DejaVu Sans"/>
              </a:rPr>
              <a:t>Text Alignment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h1 {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  text-align: center;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h2 {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  text-align: left;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h3 {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  text-align: right;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}</a:t>
            </a:r>
            <a:r>
              <a:rPr sz="2400"/>
              <a:t/>
            </a:r>
            <a:br>
              <a:rPr sz="2400"/>
            </a:b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h3 {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  text-align: justify;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FFFFFF"/>
                </a:solidFill>
                <a:latin typeface="Calibri"/>
                <a:ea typeface="DejaVu Sans"/>
              </a:rPr>
              <a:t>}</a:t>
            </a:r>
            <a:endParaRPr lang="en-IN" sz="24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endParaRPr lang="en-IN" sz="2400" b="0" strike="noStrike" spc="-1">
              <a:latin typeface="Arial"/>
            </a:endParaRPr>
          </a:p>
        </p:txBody>
      </p:sp>
      <p:sp>
        <p:nvSpPr>
          <p:cNvPr id="78" name="Rectangle 12"/>
          <p:cNvSpPr/>
          <p:nvPr/>
        </p:nvSpPr>
        <p:spPr>
          <a:xfrm>
            <a:off x="7657920" y="1418760"/>
            <a:ext cx="4138920" cy="143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Titillium Web"/>
                <a:ea typeface="DejaVu Sans"/>
              </a:rPr>
              <a:t>Text Spacing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Titillium Web"/>
                <a:ea typeface="DejaVu Sans"/>
              </a:rPr>
              <a:t>p {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Titillium Web"/>
                <a:ea typeface="DejaVu Sans"/>
              </a:rPr>
              <a:t>  text-indent: 50px;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Titillium Web"/>
                <a:ea typeface="DejaVu Sans"/>
              </a:rPr>
              <a:t>}</a:t>
            </a:r>
            <a:endParaRPr lang="en-IN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518760" y="945360"/>
            <a:ext cx="5501520" cy="243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200" b="1" strike="noStrike" spc="-1" dirty="0">
                <a:solidFill>
                  <a:srgbClr val="FFFF00"/>
                </a:solidFill>
                <a:latin typeface="Titillium Web"/>
                <a:ea typeface="DejaVu Sans"/>
              </a:rPr>
              <a:t>Text Transformation</a:t>
            </a:r>
            <a:endParaRPr lang="en-IN" sz="2200" b="0" strike="noStrike" spc="-1" dirty="0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FFFF"/>
                </a:solidFill>
                <a:latin typeface="Titillium Web"/>
                <a:ea typeface="DejaVu Sans"/>
              </a:rPr>
              <a:t>h1 </a:t>
            </a:r>
            <a:endParaRPr lang="en-IN" sz="2200" b="0" strike="noStrike" spc="-1" dirty="0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FFFF"/>
                </a:solidFill>
                <a:latin typeface="Titillium Web"/>
                <a:ea typeface="DejaVu Sans"/>
              </a:rPr>
              <a:t>{</a:t>
            </a:r>
            <a:endParaRPr lang="en-IN" sz="2200" b="0" strike="noStrike" spc="-1" dirty="0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000" b="1" strike="noStrike" spc="-1" dirty="0">
                <a:solidFill>
                  <a:srgbClr val="FFFFFF"/>
                </a:solidFill>
                <a:latin typeface="Titillium Web"/>
                <a:ea typeface="DejaVu Sans"/>
              </a:rPr>
              <a:t>text-transform</a:t>
            </a:r>
            <a:r>
              <a:rPr lang="en-US" sz="2200" b="1" strike="noStrike" spc="-1" dirty="0">
                <a:solidFill>
                  <a:srgbClr val="FFFFFF"/>
                </a:solidFill>
                <a:latin typeface="Titillium Web"/>
                <a:ea typeface="DejaVu Sans"/>
              </a:rPr>
              <a:t>: uppercase;</a:t>
            </a:r>
            <a:endParaRPr lang="en-IN" sz="2200" b="0" strike="noStrike" spc="-1" dirty="0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FFFF"/>
                </a:solidFill>
                <a:latin typeface="Titillium Web"/>
                <a:ea typeface="DejaVu Sans"/>
              </a:rPr>
              <a:t>  text-transform: lowercase;</a:t>
            </a:r>
            <a:endParaRPr lang="en-IN" sz="2200" b="0" strike="noStrike" spc="-1" dirty="0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FFFF"/>
                </a:solidFill>
                <a:latin typeface="Titillium Web"/>
                <a:ea typeface="DejaVu Sans"/>
              </a:rPr>
              <a:t>  text-transform: capitalize;</a:t>
            </a:r>
            <a:endParaRPr lang="en-IN" sz="2200" b="0" strike="noStrike" spc="-1" dirty="0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FFFF"/>
                </a:solidFill>
                <a:latin typeface="Titillium Web"/>
                <a:ea typeface="DejaVu Sans"/>
              </a:rPr>
              <a:t>}</a:t>
            </a:r>
            <a:endParaRPr lang="en-IN" sz="2200" b="0" strike="noStrike" spc="-1" dirty="0">
              <a:latin typeface="Arial"/>
            </a:endParaRPr>
          </a:p>
        </p:txBody>
      </p:sp>
      <p:sp>
        <p:nvSpPr>
          <p:cNvPr id="80" name="Rectangle 5"/>
          <p:cNvSpPr/>
          <p:nvPr/>
        </p:nvSpPr>
        <p:spPr>
          <a:xfrm>
            <a:off x="786240" y="3819240"/>
            <a:ext cx="6097320" cy="176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FF00"/>
                </a:solidFill>
                <a:latin typeface="Titillium Web"/>
                <a:ea typeface="DejaVu Sans"/>
              </a:rPr>
              <a:t>Text Shadow</a:t>
            </a:r>
            <a:endParaRPr lang="en-IN" sz="2200" b="0" strike="noStrike" spc="-1" dirty="0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h1 {</a:t>
            </a:r>
            <a:endParaRPr lang="en-IN" sz="2200" b="0" strike="noStrike" spc="-1" dirty="0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  text-shadow: 2px </a:t>
            </a:r>
            <a:r>
              <a:rPr lang="en-US" sz="2200" b="1" strike="noStrike" spc="-1" dirty="0" err="1">
                <a:solidFill>
                  <a:srgbClr val="FFFFFF"/>
                </a:solidFill>
                <a:latin typeface="Calibri"/>
                <a:ea typeface="DejaVu Sans"/>
              </a:rPr>
              <a:t>2px</a:t>
            </a:r>
            <a:r>
              <a:rPr lang="en-US" sz="2200" b="1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 5px red;</a:t>
            </a:r>
            <a:endParaRPr lang="en-IN" sz="2200" b="0" strike="noStrike" spc="-1" dirty="0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}</a:t>
            </a:r>
            <a:endParaRPr lang="en-IN" sz="2200" b="0" strike="noStrike" spc="-1" dirty="0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endParaRPr lang="en-IN" sz="2200" b="0" strike="noStrike" spc="-1" dirty="0">
              <a:latin typeface="Arial"/>
            </a:endParaRPr>
          </a:p>
        </p:txBody>
      </p:sp>
      <p:sp>
        <p:nvSpPr>
          <p:cNvPr id="81" name="Rectangle 8"/>
          <p:cNvSpPr/>
          <p:nvPr/>
        </p:nvSpPr>
        <p:spPr>
          <a:xfrm>
            <a:off x="6388200" y="1747800"/>
            <a:ext cx="5302440" cy="478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h1 {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  text-decoration: overline;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}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h2 {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  text-decoration: line-through;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}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h3 {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  text-decoration: underline;</a:t>
            </a:r>
            <a:endParaRPr lang="en-IN" sz="2200" b="0" strike="noStrike" spc="-1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}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82" name="Rectangle 9"/>
          <p:cNvSpPr/>
          <p:nvPr/>
        </p:nvSpPr>
        <p:spPr>
          <a:xfrm>
            <a:off x="6415560" y="945360"/>
            <a:ext cx="345348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marL="800280" lvl="1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Text Decoration</a:t>
            </a:r>
            <a:endParaRPr lang="en-IN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435240" y="474840"/>
            <a:ext cx="54464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66FF66"/>
                </a:solidFill>
                <a:latin typeface="Titillium Web"/>
                <a:ea typeface="DejaVu Sans"/>
              </a:rPr>
              <a:t>Background Properties in CSS: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84" name="Rectangle 3"/>
          <p:cNvSpPr/>
          <p:nvPr/>
        </p:nvSpPr>
        <p:spPr>
          <a:xfrm>
            <a:off x="775440" y="1041120"/>
            <a:ext cx="11058480" cy="762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background-image: 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Specifies the background image to be displayed. It can be a URL pointing to an image file or a gradient created using the </a:t>
            </a: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linear-gradient() or radial-gradient() functions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.</a:t>
            </a:r>
            <a:endParaRPr lang="en-IN" sz="22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background-color: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Sets the background color for an element. It can be specified using color names, hexadecimal values, RGB values, or HSL values.</a:t>
            </a:r>
            <a:endParaRPr lang="en-IN" sz="22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background-repeat: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Determines how the background image is repeated if it is smaller than the element's size. Values include repeat </a:t>
            </a: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(default), repeat-x, repeat-y, and no-repeat.</a:t>
            </a:r>
            <a:endParaRPr lang="en-IN" sz="22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background-position: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Specifies the starting position of the background image. It can be set using keywords </a:t>
            </a: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like left, center, right, top, bottom, or using percentage or length values.</a:t>
            </a:r>
            <a:endParaRPr lang="en-IN" sz="22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background-size: 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Sets the size of the background image. It can be specified using keywords like </a:t>
            </a: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cover, contain, or using length values, such as px, em, or percentage values.</a:t>
            </a:r>
            <a:endParaRPr lang="en-IN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2"/>
          <p:cNvSpPr/>
          <p:nvPr/>
        </p:nvSpPr>
        <p:spPr>
          <a:xfrm>
            <a:off x="866520" y="711000"/>
            <a:ext cx="10523520" cy="461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background-attachment: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Determines whether the background image scrolls with the content or remains fixed. Values include </a:t>
            </a: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scroll (default) and fixed.</a:t>
            </a:r>
            <a:endParaRPr lang="en-IN" sz="22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background-clip: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Specifies the area where the background image or color is visible. It can be set to border-box, padding-box, or content-box.</a:t>
            </a:r>
            <a:endParaRPr lang="en-IN" sz="22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background-gradient: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Represents a CSS gradient that can be used as the background. Gradients can be linear or radial and can include multiple color stops.</a:t>
            </a:r>
            <a:endParaRPr lang="en-IN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1"/>
          <p:cNvSpPr/>
          <p:nvPr/>
        </p:nvSpPr>
        <p:spPr>
          <a:xfrm>
            <a:off x="3854880" y="644760"/>
            <a:ext cx="33829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2F3542"/>
                </a:solidFill>
                <a:latin typeface="Titillium Web"/>
                <a:ea typeface="DejaVu Sans"/>
              </a:rPr>
              <a:t> </a:t>
            </a:r>
            <a:r>
              <a:rPr lang="en-US" sz="2400" b="1" strike="noStrike" spc="-1">
                <a:solidFill>
                  <a:srgbClr val="66FF66"/>
                </a:solidFill>
                <a:latin typeface="Titillium Web"/>
                <a:ea typeface="DejaVu Sans"/>
              </a:rPr>
              <a:t>List Styling in CSS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87" name="Rectangle 2"/>
          <p:cNvSpPr/>
          <p:nvPr/>
        </p:nvSpPr>
        <p:spPr>
          <a:xfrm>
            <a:off x="348840" y="1454760"/>
            <a:ext cx="5173920" cy="301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FF99FF"/>
                </a:solidFill>
                <a:latin typeface="Titillium Web"/>
                <a:ea typeface="DejaVu Sans"/>
              </a:rPr>
              <a:t>list-style-type</a:t>
            </a: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 dirty="0" err="1">
                <a:solidFill>
                  <a:srgbClr val="FFFF00"/>
                </a:solidFill>
                <a:latin typeface="Titillium Web"/>
                <a:ea typeface="DejaVu Sans"/>
              </a:rPr>
              <a:t>Ul</a:t>
            </a:r>
            <a:r>
              <a:rPr lang="en-US" sz="2400" b="1" strike="noStrike" spc="-1" dirty="0">
                <a:solidFill>
                  <a:srgbClr val="FFFF00"/>
                </a:solidFill>
                <a:latin typeface="Titillium Web"/>
                <a:ea typeface="DejaVu Sans"/>
              </a:rPr>
              <a:t>  li {</a:t>
            </a: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FFFF00"/>
                </a:solidFill>
                <a:latin typeface="Titillium Web"/>
                <a:ea typeface="DejaVu Sans"/>
              </a:rPr>
              <a:t>  list-style-type: circle;</a:t>
            </a: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FFFF00"/>
                </a:solidFill>
                <a:latin typeface="Titillium Web"/>
                <a:ea typeface="DejaVu Sans"/>
              </a:rPr>
              <a:t>}</a:t>
            </a: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 dirty="0" err="1">
                <a:solidFill>
                  <a:srgbClr val="FFFF00"/>
                </a:solidFill>
                <a:latin typeface="Titillium Web"/>
                <a:ea typeface="DejaVu Sans"/>
              </a:rPr>
              <a:t>ol</a:t>
            </a:r>
            <a:r>
              <a:rPr lang="en-US" sz="2400" b="1" strike="noStrike" spc="-1" dirty="0">
                <a:solidFill>
                  <a:srgbClr val="FFFF00"/>
                </a:solidFill>
                <a:latin typeface="Titillium Web"/>
                <a:ea typeface="DejaVu Sans"/>
              </a:rPr>
              <a:t>  li{</a:t>
            </a: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FFFF00"/>
                </a:solidFill>
                <a:latin typeface="Titillium Web"/>
                <a:ea typeface="DejaVu Sans"/>
              </a:rPr>
              <a:t>  list-style-type: lower-alpha;</a:t>
            </a: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FFFF00"/>
                </a:solidFill>
                <a:latin typeface="Titillium Web"/>
                <a:ea typeface="DejaVu Sans"/>
              </a:rPr>
              <a:t>}</a:t>
            </a: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IN" sz="2400" b="0" strike="noStrike" spc="-1" dirty="0">
              <a:latin typeface="Arial"/>
            </a:endParaRPr>
          </a:p>
        </p:txBody>
      </p:sp>
      <p:sp>
        <p:nvSpPr>
          <p:cNvPr id="88" name="Rectangle 4"/>
          <p:cNvSpPr/>
          <p:nvPr/>
        </p:nvSpPr>
        <p:spPr>
          <a:xfrm>
            <a:off x="5501520" y="1598400"/>
            <a:ext cx="5506200" cy="143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99FF"/>
                </a:solidFill>
                <a:latin typeface="Titillium Web"/>
                <a:ea typeface="DejaVu Sans"/>
              </a:rPr>
              <a:t>list-style-image</a:t>
            </a:r>
            <a:endParaRPr lang="en-IN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 dirty="0" err="1">
                <a:solidFill>
                  <a:srgbClr val="FFFF00"/>
                </a:solidFill>
                <a:latin typeface="Titillium Web"/>
                <a:ea typeface="DejaVu Sans"/>
              </a:rPr>
              <a:t>ul</a:t>
            </a:r>
            <a:r>
              <a:rPr lang="en-US" sz="2200" b="1" strike="noStrike" spc="-1" dirty="0">
                <a:solidFill>
                  <a:srgbClr val="FFFF00"/>
                </a:solidFill>
                <a:latin typeface="Titillium Web"/>
                <a:ea typeface="DejaVu Sans"/>
              </a:rPr>
              <a:t> {</a:t>
            </a:r>
            <a:endParaRPr lang="en-IN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FF00"/>
                </a:solidFill>
                <a:latin typeface="Titillium Web"/>
                <a:ea typeface="DejaVu Sans"/>
              </a:rPr>
              <a:t>  list-style-image: </a:t>
            </a:r>
            <a:r>
              <a:rPr lang="en-US" sz="2200" b="1" strike="noStrike" spc="-1" dirty="0" err="1">
                <a:solidFill>
                  <a:srgbClr val="FFFF00"/>
                </a:solidFill>
                <a:latin typeface="Titillium Web"/>
                <a:ea typeface="DejaVu Sans"/>
              </a:rPr>
              <a:t>url</a:t>
            </a:r>
            <a:r>
              <a:rPr lang="en-US" sz="2200" b="1" strike="noStrike" spc="-1" dirty="0">
                <a:solidFill>
                  <a:srgbClr val="FFFF00"/>
                </a:solidFill>
                <a:latin typeface="Titillium Web"/>
                <a:ea typeface="DejaVu Sans"/>
              </a:rPr>
              <a:t>("logo.png");</a:t>
            </a:r>
            <a:endParaRPr lang="en-IN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FF00"/>
                </a:solidFill>
                <a:latin typeface="Titillium Web"/>
                <a:ea typeface="DejaVu Sans"/>
              </a:rPr>
              <a:t>}</a:t>
            </a:r>
            <a:endParaRPr lang="en-IN" sz="2200" b="0" strike="noStrike" spc="-1" dirty="0">
              <a:latin typeface="Arial"/>
            </a:endParaRPr>
          </a:p>
        </p:txBody>
      </p:sp>
      <p:sp>
        <p:nvSpPr>
          <p:cNvPr id="89" name="Rectangle 6"/>
          <p:cNvSpPr/>
          <p:nvPr/>
        </p:nvSpPr>
        <p:spPr>
          <a:xfrm>
            <a:off x="432360" y="4634640"/>
            <a:ext cx="4628160" cy="143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99FF"/>
                </a:solidFill>
                <a:latin typeface="Titillium Web"/>
                <a:ea typeface="DejaVu Sans"/>
              </a:rPr>
              <a:t>list-style-position</a:t>
            </a:r>
            <a:endParaRPr lang="en-IN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 dirty="0" err="1">
                <a:solidFill>
                  <a:srgbClr val="FFFF00"/>
                </a:solidFill>
                <a:latin typeface="Titillium Web"/>
                <a:ea typeface="DejaVu Sans"/>
              </a:rPr>
              <a:t>ul</a:t>
            </a:r>
            <a:r>
              <a:rPr lang="en-US" sz="2200" b="1" strike="noStrike" spc="-1" dirty="0">
                <a:solidFill>
                  <a:srgbClr val="FFFF00"/>
                </a:solidFill>
                <a:latin typeface="Titillium Web"/>
                <a:ea typeface="DejaVu Sans"/>
              </a:rPr>
              <a:t> {</a:t>
            </a:r>
            <a:endParaRPr lang="en-IN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FF00"/>
                </a:solidFill>
                <a:latin typeface="Titillium Web"/>
                <a:ea typeface="DejaVu Sans"/>
              </a:rPr>
              <a:t>  list-style-position: outside;</a:t>
            </a:r>
            <a:endParaRPr lang="en-IN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FF00"/>
                </a:solidFill>
                <a:latin typeface="Titillium Web"/>
                <a:ea typeface="DejaVu Sans"/>
              </a:rPr>
              <a:t>}</a:t>
            </a:r>
            <a:endParaRPr lang="en-IN" sz="2200" b="0" strike="noStrike" spc="-1" dirty="0">
              <a:latin typeface="Arial"/>
            </a:endParaRPr>
          </a:p>
        </p:txBody>
      </p:sp>
      <p:sp>
        <p:nvSpPr>
          <p:cNvPr id="90" name="Rectangle 9"/>
          <p:cNvSpPr/>
          <p:nvPr/>
        </p:nvSpPr>
        <p:spPr>
          <a:xfrm>
            <a:off x="5660640" y="3321360"/>
            <a:ext cx="3489840" cy="143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99FF"/>
                </a:solidFill>
                <a:latin typeface="Titillium Web"/>
                <a:ea typeface="DejaVu Sans"/>
              </a:rPr>
              <a:t>list-style-color</a:t>
            </a:r>
            <a:endParaRPr lang="en-IN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 dirty="0" err="1">
                <a:solidFill>
                  <a:srgbClr val="FFFF00"/>
                </a:solidFill>
                <a:latin typeface="Titillium Web"/>
                <a:ea typeface="DejaVu Sans"/>
              </a:rPr>
              <a:t>ul</a:t>
            </a:r>
            <a:r>
              <a:rPr lang="en-US" sz="2200" b="1" strike="noStrike" spc="-1" dirty="0">
                <a:solidFill>
                  <a:srgbClr val="FFFF00"/>
                </a:solidFill>
                <a:latin typeface="Titillium Web"/>
                <a:ea typeface="DejaVu Sans"/>
              </a:rPr>
              <a:t> {</a:t>
            </a:r>
            <a:endParaRPr lang="en-IN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FF00"/>
                </a:solidFill>
                <a:latin typeface="Titillium Web"/>
                <a:ea typeface="DejaVu Sans"/>
              </a:rPr>
              <a:t>  list-style-color: red;</a:t>
            </a:r>
            <a:endParaRPr lang="en-IN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FF00"/>
                </a:solidFill>
                <a:latin typeface="Titillium Web"/>
                <a:ea typeface="DejaVu Sans"/>
              </a:rPr>
              <a:t>}</a:t>
            </a:r>
            <a:endParaRPr lang="en-IN" sz="2200" b="0" strike="noStrike" spc="-1" dirty="0">
              <a:latin typeface="Arial"/>
            </a:endParaRPr>
          </a:p>
        </p:txBody>
      </p:sp>
      <p:sp>
        <p:nvSpPr>
          <p:cNvPr id="91" name="Rectangle 12"/>
          <p:cNvSpPr/>
          <p:nvPr/>
        </p:nvSpPr>
        <p:spPr>
          <a:xfrm>
            <a:off x="6096840" y="4972320"/>
            <a:ext cx="6095160" cy="143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 dirty="0" err="1">
                <a:solidFill>
                  <a:srgbClr val="FFFF00"/>
                </a:solidFill>
                <a:latin typeface="Calibri"/>
                <a:ea typeface="DejaVu Sans"/>
              </a:rPr>
              <a:t>ul</a:t>
            </a:r>
            <a:r>
              <a:rPr lang="en-US" sz="22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 {</a:t>
            </a:r>
            <a:endParaRPr lang="en-IN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  list-style: circle outside </a:t>
            </a:r>
            <a:r>
              <a:rPr lang="en-US" sz="2200" b="1" strike="noStrike" spc="-1" dirty="0" err="1">
                <a:solidFill>
                  <a:srgbClr val="FFFF00"/>
                </a:solidFill>
                <a:latin typeface="Calibri"/>
                <a:ea typeface="DejaVu Sans"/>
              </a:rPr>
              <a:t>url</a:t>
            </a:r>
            <a:r>
              <a:rPr lang="en-US" sz="22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("logo.png");</a:t>
            </a:r>
            <a:endParaRPr lang="en-IN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}</a:t>
            </a:r>
            <a:endParaRPr lang="en-IN" sz="2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3723480" y="579600"/>
            <a:ext cx="44744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66FF66"/>
                </a:solidFill>
                <a:latin typeface="Titillium Web"/>
                <a:ea typeface="DejaVu Sans"/>
              </a:rPr>
              <a:t>Margin Properties in CSS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93" name="Rectangle 3"/>
          <p:cNvSpPr/>
          <p:nvPr/>
        </p:nvSpPr>
        <p:spPr>
          <a:xfrm>
            <a:off x="931680" y="1386720"/>
            <a:ext cx="1049760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In CSS, margin properties are used to control the spacing and positioning of elements by defining the space around an element's content. 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94" name="Rectangle 5"/>
          <p:cNvSpPr/>
          <p:nvPr/>
        </p:nvSpPr>
        <p:spPr>
          <a:xfrm>
            <a:off x="1950840" y="2501640"/>
            <a:ext cx="7675920" cy="411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</a:t>
            </a: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margin-bottom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specifies the bottom margin of an element.</a:t>
            </a:r>
            <a:endParaRPr lang="en-IN" sz="22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</a:t>
            </a: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margin-top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specifies the top margin of an element.</a:t>
            </a:r>
            <a:endParaRPr lang="en-IN" sz="22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</a:t>
            </a: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margin-left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specifies the left margin of an element.</a:t>
            </a:r>
            <a:endParaRPr lang="en-IN" sz="2200" b="0" strike="noStrike" spc="-1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FFFF00"/>
              </a:buClr>
              <a:buFont typeface="Wingdings" charset="2"/>
              <a:buChar char="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</a:t>
            </a: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margin-right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specifies the right margin of an element</a:t>
            </a:r>
            <a:endParaRPr lang="en-IN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1147680" y="997560"/>
            <a:ext cx="315432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99FF"/>
                </a:solidFill>
                <a:latin typeface="Titillium Web"/>
                <a:ea typeface="DejaVu Sans"/>
              </a:rPr>
              <a:t>Margin on all sides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96" name="Rectangle 3"/>
          <p:cNvSpPr/>
          <p:nvPr/>
        </p:nvSpPr>
        <p:spPr>
          <a:xfrm>
            <a:off x="1317240" y="1585440"/>
            <a:ext cx="237564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margin: 10px;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97" name="Rectangle 4"/>
          <p:cNvSpPr/>
          <p:nvPr/>
        </p:nvSpPr>
        <p:spPr>
          <a:xfrm>
            <a:off x="4718520" y="997560"/>
            <a:ext cx="432324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99FF"/>
                </a:solidFill>
                <a:latin typeface="Titillium Web"/>
                <a:ea typeface="DejaVu Sans"/>
              </a:rPr>
              <a:t>Margin on individual sides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98" name="Rectangle 6"/>
          <p:cNvSpPr/>
          <p:nvPr/>
        </p:nvSpPr>
        <p:spPr>
          <a:xfrm>
            <a:off x="5229360" y="1585440"/>
            <a:ext cx="6095160" cy="176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margin-top: 7px;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margin-right: 12px;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margin-bottom: 15px;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margin-left: 8px;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Margin:auto;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99" name="Rectangle 7"/>
          <p:cNvSpPr/>
          <p:nvPr/>
        </p:nvSpPr>
        <p:spPr>
          <a:xfrm>
            <a:off x="1056960" y="3231360"/>
            <a:ext cx="421380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99FF"/>
                </a:solidFill>
                <a:latin typeface="Titillium Web"/>
                <a:ea typeface="DejaVu Sans"/>
              </a:rPr>
              <a:t>Margin in shorthand form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00" name="Rectangle 9"/>
          <p:cNvSpPr/>
          <p:nvPr/>
        </p:nvSpPr>
        <p:spPr>
          <a:xfrm>
            <a:off x="1080000" y="3862080"/>
            <a:ext cx="5815440" cy="7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margin: 22px 25px 17px 18px;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top, right, bottom, and left margins</a:t>
            </a:r>
            <a:endParaRPr lang="en-IN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"/>
          <p:cNvSpPr/>
          <p:nvPr/>
        </p:nvSpPr>
        <p:spPr>
          <a:xfrm>
            <a:off x="3460680" y="736200"/>
            <a:ext cx="4671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66FF66"/>
                </a:solidFill>
                <a:latin typeface="Titillium Web"/>
                <a:ea typeface="DejaVu Sans"/>
              </a:rPr>
              <a:t>Padding Properties in CSS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02" name="Rectangle 3"/>
          <p:cNvSpPr/>
          <p:nvPr/>
        </p:nvSpPr>
        <p:spPr>
          <a:xfrm>
            <a:off x="1644480" y="1551240"/>
            <a:ext cx="830304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In CSS, padding properties are used to control the spacing and size of the content area within an element. 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03" name="Rectangle 5"/>
          <p:cNvSpPr/>
          <p:nvPr/>
        </p:nvSpPr>
        <p:spPr>
          <a:xfrm>
            <a:off x="1362960" y="2674080"/>
            <a:ext cx="9583200" cy="310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</a:t>
            </a: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padding-bottom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specifies the bottom padding of an element.</a:t>
            </a:r>
            <a:endParaRPr lang="en-IN" sz="22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</a:t>
            </a: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padding-top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specifies the top padding of an element.</a:t>
            </a:r>
            <a:endParaRPr lang="en-IN" sz="22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</a:t>
            </a: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padding-left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specifies the left padding of an element.</a:t>
            </a:r>
            <a:endParaRPr lang="en-IN" sz="2200" b="0" strike="noStrike" spc="-1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</a:t>
            </a: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padding-right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specifies the right padding of an element</a:t>
            </a:r>
            <a:endParaRPr lang="en-IN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3903840" y="540360"/>
            <a:ext cx="44424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66FF66"/>
                </a:solidFill>
                <a:latin typeface="Titillium Web"/>
                <a:ea typeface="DejaVu Sans"/>
              </a:rPr>
              <a:t>Border Properties in CSS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05" name="Rectangle 3"/>
          <p:cNvSpPr/>
          <p:nvPr/>
        </p:nvSpPr>
        <p:spPr>
          <a:xfrm>
            <a:off x="1689480" y="1226880"/>
            <a:ext cx="8472600" cy="20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</a:t>
            </a: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border-width 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specifies the width of an element.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</a:t>
            </a: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border-style 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specifies the styling effect of an element.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</a:t>
            </a: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border-color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specifies the color of an element.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06" name="Rectangle 4"/>
          <p:cNvSpPr/>
          <p:nvPr/>
        </p:nvSpPr>
        <p:spPr>
          <a:xfrm>
            <a:off x="3753360" y="3067920"/>
            <a:ext cx="6095160" cy="374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p.dotted {border-style: dotted;}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p.dashed {border-style: dashed;}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p.solid {border-style: solid;}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p.double {border-style: double;}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p.groove {border-style: groove;}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p.ridge {border-style: ridge;}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p.inset {border-style: inset;}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p.outset {border-style: outset;}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p.none {border-style: none;}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p.hidden {border-style: hidden;}</a:t>
            </a:r>
            <a:endParaRPr lang="en-IN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p.mix {border-style: dotted dashed solid double;}</a:t>
            </a:r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4104720" y="370440"/>
            <a:ext cx="4104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66FF66"/>
                </a:solidFill>
                <a:latin typeface="Titillium Web"/>
                <a:ea typeface="DejaVu Sans"/>
              </a:rPr>
              <a:t>CSS Display Properties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08" name="Rectangle 4"/>
          <p:cNvSpPr/>
          <p:nvPr/>
        </p:nvSpPr>
        <p:spPr>
          <a:xfrm>
            <a:off x="659520" y="832320"/>
            <a:ext cx="10993680" cy="64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strike="noStrike" spc="-1" dirty="0">
                <a:solidFill>
                  <a:srgbClr val="FF99FF"/>
                </a:solidFill>
                <a:latin typeface="Calibri"/>
                <a:ea typeface="DejaVu Sans"/>
              </a:rPr>
              <a:t>block: </a:t>
            </a:r>
            <a:r>
              <a:rPr lang="en-US" sz="20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The element generates a block-level box. It starts on a new line and takes up the full width available.</a:t>
            </a:r>
            <a:endParaRPr lang="en-IN" sz="2000" b="0" strike="noStrike" spc="-1" dirty="0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000" b="1" strike="noStrike" spc="-1" dirty="0">
                <a:solidFill>
                  <a:srgbClr val="FF99FF"/>
                </a:solidFill>
                <a:latin typeface="Calibri"/>
                <a:ea typeface="DejaVu Sans"/>
              </a:rPr>
              <a:t>inline: </a:t>
            </a:r>
            <a:r>
              <a:rPr lang="en-US" sz="20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The element generates an inline-level box. It does not start on a new line and only occupies the space necessary for its content.</a:t>
            </a:r>
            <a:endParaRPr lang="en-IN" sz="2000" b="0" strike="noStrike" spc="-1" dirty="0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000" b="1" strike="noStrike" spc="-1" dirty="0">
                <a:solidFill>
                  <a:srgbClr val="FF99FF"/>
                </a:solidFill>
                <a:latin typeface="Calibri"/>
                <a:ea typeface="DejaVu Sans"/>
              </a:rPr>
              <a:t>inline-block: </a:t>
            </a:r>
            <a:r>
              <a:rPr lang="en-US" sz="20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The element generates a combination of inline and block-level behavior. It flows as an inline-level element but allows width, height, padding, and margin settings.</a:t>
            </a:r>
            <a:endParaRPr lang="en-IN" sz="2000" b="0" strike="noStrike" spc="-1" dirty="0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000" b="1" strike="noStrike" spc="-1" dirty="0">
                <a:solidFill>
                  <a:srgbClr val="FF99FF"/>
                </a:solidFill>
                <a:latin typeface="Calibri"/>
                <a:ea typeface="DejaVu Sans"/>
              </a:rPr>
              <a:t>none: </a:t>
            </a:r>
            <a:r>
              <a:rPr lang="en-US" sz="20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The element is not displayed on the page. It is completely removed from the document flow and occupies no space.</a:t>
            </a:r>
            <a:endParaRPr lang="en-IN" sz="2000" b="0" strike="noStrike" spc="-1" dirty="0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000" b="1" strike="noStrike" spc="-1" dirty="0">
                <a:solidFill>
                  <a:srgbClr val="FF99FF"/>
                </a:solidFill>
                <a:latin typeface="Calibri"/>
                <a:ea typeface="DejaVu Sans"/>
              </a:rPr>
              <a:t>flex: </a:t>
            </a:r>
            <a:r>
              <a:rPr lang="en-US" sz="20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The element becomes a flexible container. It enables flexible layouts using </a:t>
            </a:r>
            <a:r>
              <a:rPr lang="en-US" sz="2000" b="1" strike="noStrike" spc="-1" dirty="0" err="1">
                <a:solidFill>
                  <a:srgbClr val="FFFF00"/>
                </a:solidFill>
                <a:latin typeface="Calibri"/>
                <a:ea typeface="DejaVu Sans"/>
              </a:rPr>
              <a:t>flexbox</a:t>
            </a:r>
            <a:r>
              <a:rPr lang="en-US" sz="20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, allowing easy alignment and distribution of child elements.</a:t>
            </a:r>
            <a:endParaRPr lang="en-IN" sz="2000" b="0" strike="noStrike" spc="-1" dirty="0">
              <a:latin typeface="Arial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000" b="1" strike="noStrike" spc="-1" dirty="0">
                <a:solidFill>
                  <a:srgbClr val="FF99FF"/>
                </a:solidFill>
                <a:latin typeface="Calibri"/>
                <a:ea typeface="DejaVu Sans"/>
              </a:rPr>
              <a:t>grid: </a:t>
            </a:r>
            <a:r>
              <a:rPr lang="en-US" sz="20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The element becomes a grid container. It enables grid-based layouts using CSS grid, providing powerful grid-based alignment and positioning capabilities.</a:t>
            </a:r>
            <a:endParaRPr lang="en-IN" sz="20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3875400" y="488160"/>
            <a:ext cx="37519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66FF66"/>
                </a:solidFill>
                <a:latin typeface="Titillium Web"/>
                <a:ea typeface="DejaVu Sans"/>
              </a:rPr>
              <a:t>CSS Table Properties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10" name="Rectangle 3"/>
          <p:cNvSpPr/>
          <p:nvPr/>
        </p:nvSpPr>
        <p:spPr>
          <a:xfrm>
            <a:off x="882000" y="1297800"/>
            <a:ext cx="233604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66FF"/>
                </a:solidFill>
                <a:latin typeface="Calibri"/>
                <a:ea typeface="DejaVu Sans"/>
              </a:rPr>
              <a:t>Table Borders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11" name="Rectangle 5"/>
          <p:cNvSpPr/>
          <p:nvPr/>
        </p:nvSpPr>
        <p:spPr>
          <a:xfrm>
            <a:off x="1558800" y="1843920"/>
            <a:ext cx="6042960" cy="143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table, </a:t>
            </a:r>
            <a:r>
              <a:rPr lang="en-US" sz="2200" b="1" strike="noStrike" spc="-1" dirty="0" err="1">
                <a:solidFill>
                  <a:srgbClr val="FFFF00"/>
                </a:solidFill>
                <a:latin typeface="Calibri"/>
                <a:ea typeface="DejaVu Sans"/>
              </a:rPr>
              <a:t>th</a:t>
            </a:r>
            <a:r>
              <a:rPr lang="en-US" sz="22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, td {</a:t>
            </a:r>
            <a:endParaRPr lang="en-IN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  border: 1px solid;</a:t>
            </a:r>
            <a:endParaRPr lang="en-IN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 border-collapse: collapse;</a:t>
            </a:r>
            <a:endParaRPr lang="en-IN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}</a:t>
            </a:r>
            <a:endParaRPr lang="en-IN" sz="2200" b="0" strike="noStrike" spc="-1" dirty="0">
              <a:latin typeface="Arial"/>
            </a:endParaRPr>
          </a:p>
        </p:txBody>
      </p:sp>
      <p:sp>
        <p:nvSpPr>
          <p:cNvPr id="112" name="Rectangle 7"/>
          <p:cNvSpPr/>
          <p:nvPr/>
        </p:nvSpPr>
        <p:spPr>
          <a:xfrm>
            <a:off x="5735520" y="1297800"/>
            <a:ext cx="245052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CSS Table Size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13" name="Rectangle 9"/>
          <p:cNvSpPr/>
          <p:nvPr/>
        </p:nvSpPr>
        <p:spPr>
          <a:xfrm>
            <a:off x="6486120" y="1843920"/>
            <a:ext cx="3613320" cy="243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table {</a:t>
            </a:r>
            <a:endParaRPr lang="en-IN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  width: 100%;</a:t>
            </a:r>
            <a:endParaRPr lang="en-IN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}</a:t>
            </a:r>
            <a:endParaRPr lang="en-IN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IN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 dirty="0" err="1">
                <a:solidFill>
                  <a:srgbClr val="FFFF00"/>
                </a:solidFill>
                <a:latin typeface="Calibri"/>
                <a:ea typeface="DejaVu Sans"/>
              </a:rPr>
              <a:t>th</a:t>
            </a:r>
            <a:r>
              <a:rPr lang="en-US" sz="22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 {</a:t>
            </a:r>
            <a:endParaRPr lang="en-IN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  height: 70px;</a:t>
            </a:r>
            <a:endParaRPr lang="en-IN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 dirty="0">
                <a:solidFill>
                  <a:srgbClr val="FFFF00"/>
                </a:solidFill>
                <a:latin typeface="Calibri"/>
                <a:ea typeface="DejaVu Sans"/>
              </a:rPr>
              <a:t>}</a:t>
            </a:r>
            <a:endParaRPr lang="en-IN" sz="2200" b="0" strike="noStrike" spc="-1" dirty="0">
              <a:latin typeface="Arial"/>
            </a:endParaRPr>
          </a:p>
        </p:txBody>
      </p:sp>
      <p:sp>
        <p:nvSpPr>
          <p:cNvPr id="114" name="Rectangle 11"/>
          <p:cNvSpPr/>
          <p:nvPr/>
        </p:nvSpPr>
        <p:spPr>
          <a:xfrm>
            <a:off x="1159920" y="3599640"/>
            <a:ext cx="2611800" cy="7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66FF"/>
                </a:solidFill>
                <a:latin typeface="Calibri"/>
                <a:ea typeface="DejaVu Sans"/>
              </a:rPr>
              <a:t>CSS Table Alignment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15" name="Rectangle 13"/>
          <p:cNvSpPr/>
          <p:nvPr/>
        </p:nvSpPr>
        <p:spPr>
          <a:xfrm>
            <a:off x="734400" y="4124160"/>
            <a:ext cx="352188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Horizontal Alignment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16" name="Rectangle 15"/>
          <p:cNvSpPr/>
          <p:nvPr/>
        </p:nvSpPr>
        <p:spPr>
          <a:xfrm>
            <a:off x="1477440" y="4555080"/>
            <a:ext cx="292572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text-align: center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17" name="Rectangle 17"/>
          <p:cNvSpPr/>
          <p:nvPr/>
        </p:nvSpPr>
        <p:spPr>
          <a:xfrm>
            <a:off x="784440" y="5001840"/>
            <a:ext cx="309816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FF"/>
                </a:solidFill>
                <a:latin typeface="Calibri"/>
                <a:ea typeface="DejaVu Sans"/>
              </a:rPr>
              <a:t>Vertical Alignment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18" name="Rectangle 19"/>
          <p:cNvSpPr/>
          <p:nvPr/>
        </p:nvSpPr>
        <p:spPr>
          <a:xfrm>
            <a:off x="1270800" y="5516280"/>
            <a:ext cx="4407120" cy="7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vertical-align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like top, bottom, or middle</a:t>
            </a:r>
            <a:endParaRPr lang="en-IN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2"/>
          <p:cNvSpPr/>
          <p:nvPr/>
        </p:nvSpPr>
        <p:spPr>
          <a:xfrm>
            <a:off x="34920" y="375480"/>
            <a:ext cx="61779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66FF66"/>
                </a:solidFill>
                <a:latin typeface="Calibri"/>
                <a:ea typeface="DejaVu Sans"/>
              </a:rPr>
              <a:t>CSS Layout - The position Property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20" name="Rectangle 4"/>
          <p:cNvSpPr/>
          <p:nvPr/>
        </p:nvSpPr>
        <p:spPr>
          <a:xfrm>
            <a:off x="944640" y="1036800"/>
            <a:ext cx="2951640" cy="7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66FF"/>
                </a:solidFill>
                <a:latin typeface="Calibri"/>
                <a:ea typeface="DejaVu Sans"/>
              </a:rPr>
              <a:t>The position Property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21" name="Rectangle 6"/>
          <p:cNvSpPr/>
          <p:nvPr/>
        </p:nvSpPr>
        <p:spPr>
          <a:xfrm>
            <a:off x="2801880" y="1567800"/>
            <a:ext cx="2946960" cy="176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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static</a:t>
            </a:r>
            <a:endParaRPr lang="en-IN" sz="22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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relative</a:t>
            </a:r>
            <a:endParaRPr lang="en-IN" sz="22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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fixed</a:t>
            </a:r>
            <a:endParaRPr lang="en-IN" sz="22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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absolute</a:t>
            </a:r>
            <a:endParaRPr lang="en-IN" sz="22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FF00"/>
              </a:buClr>
              <a:buFont typeface="Wingdings" charset="2"/>
              <a:buChar char="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sticky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22" name="Rectangle 7"/>
          <p:cNvSpPr/>
          <p:nvPr/>
        </p:nvSpPr>
        <p:spPr>
          <a:xfrm>
            <a:off x="3453840" y="3783240"/>
            <a:ext cx="553788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66FF66"/>
                </a:solidFill>
                <a:latin typeface="Segoe UI"/>
                <a:ea typeface="DejaVu Sans"/>
              </a:rPr>
              <a:t>CSS Layout - The z-index Property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23" name="Rectangle 2"/>
          <p:cNvSpPr/>
          <p:nvPr/>
        </p:nvSpPr>
        <p:spPr>
          <a:xfrm>
            <a:off x="1097280" y="4481640"/>
            <a:ext cx="8908200" cy="109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 z-index property specifies the stack order of an element (which element should be placed in front of, or behind, the others). 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24" name="Rectangle 10"/>
          <p:cNvSpPr/>
          <p:nvPr/>
        </p:nvSpPr>
        <p:spPr>
          <a:xfrm>
            <a:off x="6081840" y="406440"/>
            <a:ext cx="4480200" cy="42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66FF66"/>
                </a:solidFill>
                <a:latin typeface="Calibri"/>
                <a:ea typeface="DejaVu Sans"/>
              </a:rPr>
              <a:t>CSS Opacity / Transparency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25" name="Rectangle 12"/>
          <p:cNvSpPr/>
          <p:nvPr/>
        </p:nvSpPr>
        <p:spPr>
          <a:xfrm>
            <a:off x="5274000" y="1567800"/>
            <a:ext cx="6095160" cy="10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opacity property can take a value from 0.0 - 1.0. The lower the value, the more transparent</a:t>
            </a:r>
            <a:endParaRPr lang="en-IN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2"/>
          <p:cNvSpPr/>
          <p:nvPr/>
        </p:nvSpPr>
        <p:spPr>
          <a:xfrm>
            <a:off x="3517560" y="373680"/>
            <a:ext cx="459612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>
                <a:solidFill>
                  <a:srgbClr val="66FF66"/>
                </a:solidFill>
                <a:latin typeface="Calibri"/>
                <a:ea typeface="DejaVu Sans"/>
              </a:rPr>
              <a:t>CSS Layout - Overflow</a:t>
            </a:r>
            <a:endParaRPr lang="en-IN" sz="2800" b="0" strike="noStrike" spc="-1">
              <a:latin typeface="Arial"/>
            </a:endParaRPr>
          </a:p>
        </p:txBody>
      </p:sp>
      <p:sp>
        <p:nvSpPr>
          <p:cNvPr id="127" name="Rectangle 4"/>
          <p:cNvSpPr/>
          <p:nvPr/>
        </p:nvSpPr>
        <p:spPr>
          <a:xfrm>
            <a:off x="1199880" y="1099080"/>
            <a:ext cx="9968040" cy="277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buClr>
                <a:srgbClr val="FF66FF"/>
              </a:buClr>
              <a:buFont typeface="Wingdings" charset="2"/>
              <a:buChar char=""/>
            </a:pPr>
            <a:r>
              <a:rPr lang="en-US" sz="2200" b="1" strike="noStrike" spc="-1">
                <a:solidFill>
                  <a:srgbClr val="FF66FF"/>
                </a:solidFill>
                <a:latin typeface="Calibri"/>
                <a:ea typeface="DejaVu Sans"/>
              </a:rPr>
              <a:t>visible - 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Default. The overflow is not clipped. The content renders outside the element's box</a:t>
            </a:r>
            <a:endParaRPr lang="en-IN" sz="22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99FF"/>
              </a:buClr>
              <a:buFont typeface="Wingdings" charset="2"/>
              <a:buChar char=""/>
            </a:pP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hidden -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The overflow is clipped, and the rest of the content will be invisible</a:t>
            </a:r>
            <a:endParaRPr lang="en-IN" sz="22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99FF"/>
              </a:buClr>
              <a:buFont typeface="Wingdings" charset="2"/>
              <a:buChar char=""/>
            </a:pP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scroll -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The overflow is clipped, and a scrollbar is added to see the rest of the content</a:t>
            </a:r>
            <a:endParaRPr lang="en-IN" sz="2200" b="0" strike="noStrike" spc="-1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F99FF"/>
              </a:buClr>
              <a:buFont typeface="Wingdings" charset="2"/>
              <a:buChar char=""/>
            </a:pPr>
            <a:r>
              <a:rPr lang="en-US" sz="2200" b="1" strike="noStrike" spc="-1">
                <a:solidFill>
                  <a:srgbClr val="FF99FF"/>
                </a:solidFill>
                <a:latin typeface="Calibri"/>
                <a:ea typeface="DejaVu Sans"/>
              </a:rPr>
              <a:t>auto -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Similar to scroll, but it adds scrollbars only when necessary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28" name="Rectangle 6"/>
          <p:cNvSpPr/>
          <p:nvPr/>
        </p:nvSpPr>
        <p:spPr>
          <a:xfrm>
            <a:off x="3442680" y="3425040"/>
            <a:ext cx="49298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66FF66"/>
                </a:solidFill>
                <a:latin typeface="Calibri"/>
                <a:ea typeface="DejaVu Sans"/>
              </a:rPr>
              <a:t>CSS Layout - float and clear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29" name="Rectangle 8"/>
          <p:cNvSpPr/>
          <p:nvPr/>
        </p:nvSpPr>
        <p:spPr>
          <a:xfrm>
            <a:off x="1754640" y="4088880"/>
            <a:ext cx="9613440" cy="176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66FF"/>
                </a:solidFill>
                <a:latin typeface="Calibri"/>
                <a:ea typeface="DejaVu Sans"/>
              </a:rPr>
              <a:t>left - 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element floats to the left of its container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66FF"/>
                </a:solidFill>
                <a:latin typeface="Calibri"/>
                <a:ea typeface="DejaVu Sans"/>
              </a:rPr>
              <a:t>right - 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element floats to the right of its container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66FF"/>
                </a:solidFill>
                <a:latin typeface="Calibri"/>
                <a:ea typeface="DejaVu Sans"/>
              </a:rPr>
              <a:t>none - 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element does not float (will be displayed just where it occurs in the text). This is default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66FF"/>
                </a:solidFill>
                <a:latin typeface="Calibri"/>
                <a:ea typeface="DejaVu Sans"/>
              </a:rPr>
              <a:t>inherit - </a:t>
            </a: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The element inherits the float value of its parent</a:t>
            </a:r>
            <a:endParaRPr lang="en-IN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2"/>
          <p:cNvSpPr/>
          <p:nvPr/>
        </p:nvSpPr>
        <p:spPr>
          <a:xfrm>
            <a:off x="3884400" y="788400"/>
            <a:ext cx="34135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66FF66"/>
                </a:solidFill>
                <a:latin typeface="Calibri"/>
                <a:ea typeface="DejaVu Sans"/>
              </a:rPr>
              <a:t>CSS Media Queries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31" name="Rectangle 5"/>
          <p:cNvSpPr/>
          <p:nvPr/>
        </p:nvSpPr>
        <p:spPr>
          <a:xfrm>
            <a:off x="997200" y="1736280"/>
            <a:ext cx="9979200" cy="505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Media queries in CSS3 extended the CSS2 media types idea: Instead of looking for a type of device, they look at the capability of the device.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Media queries can be used to check many things, such as: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IN" sz="2200" b="0" strike="noStrike" spc="-1">
              <a:latin typeface="Arial"/>
            </a:endParaRPr>
          </a:p>
          <a:p>
            <a:pPr marL="1371600" lvl="2" indent="-457200">
              <a:lnSpc>
                <a:spcPct val="100000"/>
              </a:lnSpc>
              <a:buClr>
                <a:srgbClr val="FFFF00"/>
              </a:buClr>
              <a:buFont typeface="Wingdings" charset="2"/>
              <a:buChar char="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width and height of the viewport</a:t>
            </a:r>
            <a:endParaRPr lang="en-IN" sz="2200" b="0" strike="noStrike" spc="-1">
              <a:latin typeface="Arial"/>
            </a:endParaRPr>
          </a:p>
          <a:p>
            <a:pPr marL="1371600" lvl="2" indent="-457200">
              <a:lnSpc>
                <a:spcPct val="100000"/>
              </a:lnSpc>
              <a:buClr>
                <a:srgbClr val="FFFF00"/>
              </a:buClr>
              <a:buFont typeface="Wingdings" charset="2"/>
              <a:buChar char="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width and height of the device</a:t>
            </a:r>
            <a:endParaRPr lang="en-IN" sz="2200" b="0" strike="noStrike" spc="-1">
              <a:latin typeface="Arial"/>
            </a:endParaRPr>
          </a:p>
          <a:p>
            <a:pPr marL="1371600" lvl="2" indent="-457200">
              <a:lnSpc>
                <a:spcPct val="100000"/>
              </a:lnSpc>
              <a:buClr>
                <a:srgbClr val="FFFF00"/>
              </a:buClr>
              <a:buFont typeface="Wingdings" charset="2"/>
              <a:buChar char="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orientation (is the tablet/phone in landscape or portrait mode?)</a:t>
            </a:r>
            <a:endParaRPr lang="en-IN" sz="2200" b="0" strike="noStrike" spc="-1">
              <a:latin typeface="Arial"/>
            </a:endParaRPr>
          </a:p>
          <a:p>
            <a:pPr marL="1371600" lvl="2" indent="-457200">
              <a:lnSpc>
                <a:spcPct val="100000"/>
              </a:lnSpc>
              <a:buClr>
                <a:srgbClr val="FFFF00"/>
              </a:buClr>
              <a:buFont typeface="Wingdings" charset="2"/>
              <a:buChar char=""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resolution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Using media queries are a popular technique for delivering a tailored style sheet to desktops, laptops, tablets, and mobile phones (such as iPhone and Android phones).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IN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3"/>
          <p:cNvSpPr/>
          <p:nvPr/>
        </p:nvSpPr>
        <p:spPr>
          <a:xfrm>
            <a:off x="4705200" y="527400"/>
            <a:ext cx="23025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rgbClr val="66FF66"/>
                </a:solidFill>
                <a:latin typeface="Segoe UI"/>
                <a:ea typeface="DejaVu Sans"/>
              </a:rPr>
              <a:t>Media Types</a:t>
            </a:r>
            <a:endParaRPr lang="en-IN" sz="2400" b="0" strike="noStrike" spc="-1">
              <a:latin typeface="Arial"/>
            </a:endParaRPr>
          </a:p>
        </p:txBody>
      </p:sp>
      <p:graphicFrame>
        <p:nvGraphicFramePr>
          <p:cNvPr id="133" name="Table 6"/>
          <p:cNvGraphicFramePr/>
          <p:nvPr/>
        </p:nvGraphicFramePr>
        <p:xfrm>
          <a:off x="2087640" y="1397520"/>
          <a:ext cx="8294400" cy="2804160"/>
        </p:xfrm>
        <a:graphic>
          <a:graphicData uri="http://schemas.openxmlformats.org/drawingml/2006/table">
            <a:tbl>
              <a:tblPr/>
              <a:tblGrid>
                <a:gridCol w="20710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2233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>
                          <a:solidFill>
                            <a:srgbClr val="002060"/>
                          </a:solidFill>
                          <a:latin typeface="Calibri"/>
                        </a:rPr>
                        <a:t>Value</a:t>
                      </a:r>
                      <a:endParaRPr lang="en-IN" sz="2200" b="0" strike="noStrike" spc="-1">
                        <a:latin typeface="Arial"/>
                      </a:endParaRPr>
                    </a:p>
                  </a:txBody>
                  <a:tcPr marL="152280" marR="75960">
                    <a:lnL w="9360">
                      <a:solidFill>
                        <a:srgbClr val="38444D"/>
                      </a:solidFill>
                    </a:lnL>
                    <a:lnR w="9360">
                      <a:solidFill>
                        <a:srgbClr val="38444D"/>
                      </a:solidFill>
                    </a:lnR>
                    <a:lnT w="9360">
                      <a:solidFill>
                        <a:srgbClr val="38444D"/>
                      </a:solidFill>
                    </a:lnT>
                    <a:lnB w="9360">
                      <a:solidFill>
                        <a:srgbClr val="38444D"/>
                      </a:solidFill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>
                          <a:solidFill>
                            <a:srgbClr val="002060"/>
                          </a:solidFill>
                          <a:latin typeface="Calibri"/>
                        </a:rPr>
                        <a:t>Description</a:t>
                      </a:r>
                      <a:endParaRPr lang="en-IN" sz="2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38444D"/>
                      </a:solidFill>
                    </a:lnL>
                    <a:lnR w="9360">
                      <a:solidFill>
                        <a:srgbClr val="38444D"/>
                      </a:solidFill>
                    </a:lnR>
                    <a:lnT w="9360">
                      <a:solidFill>
                        <a:srgbClr val="38444D"/>
                      </a:solidFill>
                    </a:lnT>
                    <a:lnB w="9360">
                      <a:solidFill>
                        <a:srgbClr val="38444D"/>
                      </a:solidFill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>
                          <a:solidFill>
                            <a:srgbClr val="002060"/>
                          </a:solidFill>
                          <a:latin typeface="Calibri"/>
                        </a:rPr>
                        <a:t>all</a:t>
                      </a:r>
                      <a:endParaRPr lang="en-IN" sz="2200" b="0" strike="noStrike" spc="-1">
                        <a:latin typeface="Arial"/>
                      </a:endParaRPr>
                    </a:p>
                  </a:txBody>
                  <a:tcPr marL="152280" marR="75960">
                    <a:lnL w="9360">
                      <a:solidFill>
                        <a:srgbClr val="38444D"/>
                      </a:solidFill>
                    </a:lnL>
                    <a:lnR w="9360">
                      <a:solidFill>
                        <a:srgbClr val="38444D"/>
                      </a:solidFill>
                    </a:lnR>
                    <a:lnT w="9360">
                      <a:solidFill>
                        <a:srgbClr val="38444D"/>
                      </a:solidFill>
                    </a:lnT>
                    <a:lnB w="9360">
                      <a:solidFill>
                        <a:srgbClr val="38444D"/>
                      </a:solidFill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>
                          <a:solidFill>
                            <a:srgbClr val="002060"/>
                          </a:solidFill>
                          <a:latin typeface="Calibri"/>
                        </a:rPr>
                        <a:t>Used for all media type devices</a:t>
                      </a:r>
                      <a:endParaRPr lang="en-IN" sz="2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38444D"/>
                      </a:solidFill>
                    </a:lnL>
                    <a:lnR w="9360">
                      <a:solidFill>
                        <a:srgbClr val="38444D"/>
                      </a:solidFill>
                    </a:lnR>
                    <a:lnT w="9360">
                      <a:solidFill>
                        <a:srgbClr val="38444D"/>
                      </a:solidFill>
                    </a:lnT>
                    <a:lnB w="9360">
                      <a:solidFill>
                        <a:srgbClr val="38444D"/>
                      </a:solidFill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>
                          <a:solidFill>
                            <a:srgbClr val="002060"/>
                          </a:solidFill>
                          <a:latin typeface="Calibri"/>
                        </a:rPr>
                        <a:t>print</a:t>
                      </a:r>
                      <a:endParaRPr lang="en-IN" sz="2200" b="0" strike="noStrike" spc="-1">
                        <a:latin typeface="Arial"/>
                      </a:endParaRPr>
                    </a:p>
                  </a:txBody>
                  <a:tcPr marL="152280" marR="75960">
                    <a:lnL w="9360">
                      <a:solidFill>
                        <a:srgbClr val="38444D"/>
                      </a:solidFill>
                    </a:lnL>
                    <a:lnR w="9360">
                      <a:solidFill>
                        <a:srgbClr val="38444D"/>
                      </a:solidFill>
                    </a:lnR>
                    <a:lnT w="9360">
                      <a:solidFill>
                        <a:srgbClr val="38444D"/>
                      </a:solidFill>
                    </a:lnT>
                    <a:lnB w="9360">
                      <a:solidFill>
                        <a:srgbClr val="38444D"/>
                      </a:solidFill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>
                          <a:solidFill>
                            <a:srgbClr val="002060"/>
                          </a:solidFill>
                          <a:latin typeface="Calibri"/>
                        </a:rPr>
                        <a:t>Used for printers</a:t>
                      </a:r>
                      <a:endParaRPr lang="en-IN" sz="2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38444D"/>
                      </a:solidFill>
                    </a:lnL>
                    <a:lnR w="9360">
                      <a:solidFill>
                        <a:srgbClr val="38444D"/>
                      </a:solidFill>
                    </a:lnR>
                    <a:lnT w="9360">
                      <a:solidFill>
                        <a:srgbClr val="38444D"/>
                      </a:solidFill>
                    </a:lnT>
                    <a:lnB w="9360">
                      <a:solidFill>
                        <a:srgbClr val="38444D"/>
                      </a:solidFill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>
                          <a:solidFill>
                            <a:srgbClr val="002060"/>
                          </a:solidFill>
                          <a:latin typeface="Calibri"/>
                        </a:rPr>
                        <a:t>screen</a:t>
                      </a:r>
                      <a:endParaRPr lang="en-IN" sz="2200" b="0" strike="noStrike" spc="-1">
                        <a:latin typeface="Arial"/>
                      </a:endParaRPr>
                    </a:p>
                  </a:txBody>
                  <a:tcPr marL="152280" marR="75960">
                    <a:lnL w="9360">
                      <a:solidFill>
                        <a:srgbClr val="38444D"/>
                      </a:solidFill>
                    </a:lnL>
                    <a:lnR w="9360">
                      <a:solidFill>
                        <a:srgbClr val="38444D"/>
                      </a:solidFill>
                    </a:lnR>
                    <a:lnT w="9360">
                      <a:solidFill>
                        <a:srgbClr val="38444D"/>
                      </a:solidFill>
                    </a:lnT>
                    <a:lnB w="9360">
                      <a:solidFill>
                        <a:srgbClr val="38444D"/>
                      </a:solidFill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>
                          <a:solidFill>
                            <a:srgbClr val="002060"/>
                          </a:solidFill>
                          <a:latin typeface="Calibri"/>
                        </a:rPr>
                        <a:t>Used for computer screens, tablets, smart-phones etc.</a:t>
                      </a:r>
                      <a:endParaRPr lang="en-IN" sz="2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38444D"/>
                      </a:solidFill>
                    </a:lnL>
                    <a:lnR w="9360">
                      <a:solidFill>
                        <a:srgbClr val="38444D"/>
                      </a:solidFill>
                    </a:lnR>
                    <a:lnT w="9360">
                      <a:solidFill>
                        <a:srgbClr val="38444D"/>
                      </a:solidFill>
                    </a:lnT>
                    <a:lnB w="9360">
                      <a:solidFill>
                        <a:srgbClr val="38444D"/>
                      </a:solidFill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>
                          <a:solidFill>
                            <a:srgbClr val="002060"/>
                          </a:solidFill>
                          <a:latin typeface="Calibri"/>
                        </a:rPr>
                        <a:t>speech</a:t>
                      </a:r>
                      <a:endParaRPr lang="en-IN" sz="2200" b="0" strike="noStrike" spc="-1">
                        <a:latin typeface="Arial"/>
                      </a:endParaRPr>
                    </a:p>
                  </a:txBody>
                  <a:tcPr marL="152280" marR="75960">
                    <a:lnL w="9360">
                      <a:solidFill>
                        <a:srgbClr val="38444D"/>
                      </a:solidFill>
                    </a:lnL>
                    <a:lnR w="9360">
                      <a:solidFill>
                        <a:srgbClr val="38444D"/>
                      </a:solidFill>
                    </a:lnR>
                    <a:lnT w="9360">
                      <a:solidFill>
                        <a:srgbClr val="38444D"/>
                      </a:solidFill>
                    </a:lnT>
                    <a:lnB w="9360">
                      <a:solidFill>
                        <a:srgbClr val="38444D"/>
                      </a:solidFill>
                    </a:lnB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200" b="1" strike="noStrike" spc="-1">
                          <a:solidFill>
                            <a:srgbClr val="002060"/>
                          </a:solidFill>
                          <a:latin typeface="Calibri"/>
                        </a:rPr>
                        <a:t>Used for screen readers that "reads" the page out loud</a:t>
                      </a:r>
                      <a:endParaRPr lang="en-IN" sz="2200" b="0" strike="noStrike" spc="-1">
                        <a:latin typeface="Arial"/>
                      </a:endParaRPr>
                    </a:p>
                  </a:txBody>
                  <a:tcPr marL="75960" marR="75960">
                    <a:lnL w="9360">
                      <a:solidFill>
                        <a:srgbClr val="38444D"/>
                      </a:solidFill>
                    </a:lnL>
                    <a:lnR w="9360">
                      <a:solidFill>
                        <a:srgbClr val="38444D"/>
                      </a:solidFill>
                    </a:lnR>
                    <a:lnT w="9360">
                      <a:solidFill>
                        <a:srgbClr val="38444D"/>
                      </a:solidFill>
                    </a:lnT>
                    <a:lnB w="9360">
                      <a:solidFill>
                        <a:srgbClr val="38444D"/>
                      </a:solidFill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34" name="Rectangle 8"/>
          <p:cNvSpPr/>
          <p:nvPr/>
        </p:nvSpPr>
        <p:spPr>
          <a:xfrm>
            <a:off x="3186720" y="4914720"/>
            <a:ext cx="6095160" cy="210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@media screen and (min-width: 480px) {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body {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  background-color: lightgreen;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  }</a:t>
            </a:r>
            <a:endParaRPr lang="en-IN" sz="2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200" b="1" strike="noStrike" spc="-1">
                <a:solidFill>
                  <a:srgbClr val="FFFF00"/>
                </a:solidFill>
                <a:latin typeface="Calibri"/>
                <a:ea typeface="DejaVu Sans"/>
              </a:rPr>
              <a:t>}</a:t>
            </a:r>
            <a:endParaRPr lang="en-IN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1874</TotalTime>
  <Words>1676</Words>
  <Application>Microsoft Office PowerPoint</Application>
  <PresentationFormat>Custom</PresentationFormat>
  <Paragraphs>283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Isysway</dc:creator>
  <dc:description/>
  <cp:lastModifiedBy>admin</cp:lastModifiedBy>
  <cp:revision>48</cp:revision>
  <dcterms:created xsi:type="dcterms:W3CDTF">2023-12-13T07:09:06Z</dcterms:created>
  <dcterms:modified xsi:type="dcterms:W3CDTF">2025-10-16T06:30:20Z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23</vt:i4>
  </property>
</Properties>
</file>