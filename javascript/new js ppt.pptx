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sldIdLst>
    <p:sldId id="257" r:id="rId2"/>
    <p:sldId id="292" r:id="rId3"/>
    <p:sldId id="293" r:id="rId4"/>
    <p:sldId id="287" r:id="rId5"/>
    <p:sldId id="288" r:id="rId6"/>
    <p:sldId id="289" r:id="rId7"/>
    <p:sldId id="290" r:id="rId8"/>
    <p:sldId id="291" r:id="rId9"/>
    <p:sldId id="258" r:id="rId10"/>
    <p:sldId id="294" r:id="rId11"/>
    <p:sldId id="259" r:id="rId12"/>
    <p:sldId id="295" r:id="rId13"/>
    <p:sldId id="260" r:id="rId14"/>
    <p:sldId id="261" r:id="rId15"/>
    <p:sldId id="296" r:id="rId16"/>
    <p:sldId id="297" r:id="rId17"/>
    <p:sldId id="298" r:id="rId18"/>
    <p:sldId id="299" r:id="rId19"/>
    <p:sldId id="262" r:id="rId20"/>
    <p:sldId id="300" r:id="rId21"/>
    <p:sldId id="301" r:id="rId22"/>
    <p:sldId id="263" r:id="rId23"/>
    <p:sldId id="302" r:id="rId24"/>
    <p:sldId id="303" r:id="rId25"/>
    <p:sldId id="264" r:id="rId26"/>
    <p:sldId id="304" r:id="rId27"/>
    <p:sldId id="305" r:id="rId28"/>
    <p:sldId id="306" r:id="rId29"/>
    <p:sldId id="307" r:id="rId30"/>
    <p:sldId id="265" r:id="rId31"/>
    <p:sldId id="308" r:id="rId32"/>
    <p:sldId id="309" r:id="rId33"/>
    <p:sldId id="310" r:id="rId34"/>
    <p:sldId id="311" r:id="rId35"/>
    <p:sldId id="267" r:id="rId36"/>
    <p:sldId id="268" r:id="rId37"/>
    <p:sldId id="312" r:id="rId38"/>
    <p:sldId id="269" r:id="rId39"/>
    <p:sldId id="313" r:id="rId40"/>
    <p:sldId id="270" r:id="rId41"/>
    <p:sldId id="271" r:id="rId42"/>
    <p:sldId id="272" r:id="rId43"/>
    <p:sldId id="273" r:id="rId44"/>
    <p:sldId id="314" r:id="rId45"/>
    <p:sldId id="315" r:id="rId46"/>
    <p:sldId id="317" r:id="rId47"/>
    <p:sldId id="316" r:id="rId48"/>
    <p:sldId id="318" r:id="rId49"/>
    <p:sldId id="319" r:id="rId50"/>
    <p:sldId id="320" r:id="rId51"/>
    <p:sldId id="274" r:id="rId52"/>
    <p:sldId id="275" r:id="rId53"/>
    <p:sldId id="322" r:id="rId54"/>
    <p:sldId id="323" r:id="rId55"/>
    <p:sldId id="329" r:id="rId56"/>
    <p:sldId id="277" r:id="rId57"/>
    <p:sldId id="325" r:id="rId58"/>
    <p:sldId id="326" r:id="rId59"/>
    <p:sldId id="324" r:id="rId60"/>
    <p:sldId id="327" r:id="rId61"/>
    <p:sldId id="32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-36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99046D-A12D-4B97-BC8F-F7A120DD2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D928339-6953-4952-9FF1-031CA1368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6DB69F-7FE4-4EEE-A2C9-75BE3B0F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448E733-9F05-44D7-9BB1-DA1FCDB9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EB814F-CAAA-48E0-9C5F-B4D0F7B4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3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83AADC-8B75-4FAD-B290-53B60FBD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DE848D-98B4-4661-9AC5-F5C94017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DE45981-B5FE-4551-B7A7-97B8CE02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34FDEF-20E0-474F-8DB1-7F4C7A20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2A50FF-8596-4FCC-AFCA-549A52E7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0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03A0BE-C0C9-47E5-A7A6-4C1E9288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00AE37-13E2-418B-998A-28886FF6B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3DCC17-2C30-416E-849D-613801B9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7B29EB-2DD3-423F-8AFC-8CF9584F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8EC1C8-C2A9-4E85-89D0-2099BA1E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2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F8A3ED-15B9-49AB-A67A-B9BB8B8A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FA6917-66DF-42C0-A1E2-C081C04BF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6FD973F-59EF-4E83-A883-D27EE2D2E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FB7E6D-119A-4AA0-9162-ADD8318E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E39B70-9266-44A3-8C50-2540E9B7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F6CB32A-0E86-4CA8-B914-C6B56C7A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3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5C8FE3-BB46-49B6-B3E7-6562ECF1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D60EA5-CA3A-4CAC-8339-41DD06E06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F132135-193E-4588-A8FC-3BCC6F3B9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D2F650E-D3C2-4243-B352-F086FE6F2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5C17473-987B-434C-B768-8C7ED3765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9D171A8-4189-4869-B6B9-5A5CB5E6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8064BF6-6290-4A09-9475-2846C67C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1F6F0DA-D66A-494A-B43F-52B01D5A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5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C612CD-5CA8-42FB-B495-03E6C7C9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D56F4E1-9D59-4036-943F-99BEEB91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1BC21B0-34B8-487A-9811-DCBC6C03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AEDAE3F-7D67-41AB-A10B-4C68C263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6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62B8FF0-3943-446E-8C2F-40660AE1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2543DB8-F395-4E18-B2B5-6FED8916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F99413F-8E33-49D5-A22F-05B93D7C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3096EB-96BC-4B65-ABEC-9D462EDD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979882-06E7-4063-9588-328D9667A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354C08B-D7EC-412E-848C-7F4108A6C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8871B0-8926-442C-8047-87BCB7F0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09F1C9-CD4D-424F-874D-73F2023B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FD3425-C9D6-42E3-A2E3-ED9CF29D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8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2C6B35-7858-41E1-B23D-A9D4683F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4947272-ED68-4CED-97F9-6FEF8E43D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6BE1C39-5974-4B28-807C-5873254E4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C6B1115-3A49-4DD9-B4B0-28DB980C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2AAC07-B196-4588-A72D-34CDA21E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C83A4F4-DECD-419A-A834-35E50AD0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6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13912A-69F8-4A0A-A443-B8C0FDBE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248A0FE-1A5D-40B1-B625-5FB2B8D32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5DFB0B-9C4D-401C-A884-4321E030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7DD39E-6DDD-4CCC-A4AF-9F6AF9D0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BEC7C5-D5BE-44A3-B13B-3999616E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7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3B66978-6C24-4878-9467-B7CC32FD5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EAC3049-34B6-4025-9028-E9DA13252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64349F1-AE63-4287-85AA-C4BFE775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C539F7-BACB-40DF-937A-F49F2494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C2C1AC-6978-433A-BC9F-81435E15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8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3CD151A-AAB6-4ED4-B44D-ED665AC5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2A4C168-93F9-4181-BFD6-31366C7A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C4E566-91A5-4596-8D30-B03BF8653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B9498-23CC-4046-9F76-2537F3655B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E5842F-9691-49E1-A0B0-BD1B59283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4393D7-C055-4CE8-9B09-627D7082E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9ECCC-382D-4BDE-BA10-20DF433F3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7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3A7F55-4802-407C-8D40-3D69D6E2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30371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JavaScript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90566C7-A2CC-4A99-9C10-54F80DF52958}"/>
              </a:ext>
            </a:extLst>
          </p:cNvPr>
          <p:cNvSpPr txBox="1"/>
          <p:nvPr/>
        </p:nvSpPr>
        <p:spPr>
          <a:xfrm>
            <a:off x="596900" y="1233488"/>
            <a:ext cx="112268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a dynamic programming language that's used for web development, It is used both on the client-side and server-side that allows you to make web pages interactive.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HTML and CSS are languages that give structure and style to web pages, JavaScript gives web pages interactive elements that engage a user.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an interpreted programming language with object-oriented capabilities.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395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FDB83FE-0E8C-43BA-BA07-59C2B7E08D37}"/>
              </a:ext>
            </a:extLst>
          </p:cNvPr>
          <p:cNvSpPr txBox="1"/>
          <p:nvPr/>
        </p:nvSpPr>
        <p:spPr>
          <a:xfrm>
            <a:off x="1123287" y="0"/>
            <a:ext cx="60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JavaScript ?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E605E1-1FDF-420D-A5D4-BD8C0CB13169}"/>
              </a:ext>
            </a:extLst>
          </p:cNvPr>
          <p:cNvSpPr txBox="1"/>
          <p:nvPr/>
        </p:nvSpPr>
        <p:spPr>
          <a:xfrm>
            <a:off x="114300" y="611782"/>
            <a:ext cx="119634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It's Everywhere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runs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almost every website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internet.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you're clicking buttons, submitting forms, seeing animations, or getting live updates—JavaScript is making that happen.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Full-Stack Power (Frontend + Backend)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 dynamic websites with React, Vue, or plain JS.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run JavaScript on servers.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Connect with MongoDB using JavaScript-based queries.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build an entire app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one language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JavaScript.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Tons of Jobs and Career Opportunities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in-demand skills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web development and tech in general. Companies need developers who know it—especially with frameworks like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Angular, Vue, Node.js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9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BA9BA3B-9A9D-45F7-8516-61B7BB1D05DC}"/>
              </a:ext>
            </a:extLst>
          </p:cNvPr>
          <p:cNvSpPr txBox="1"/>
          <p:nvPr/>
        </p:nvSpPr>
        <p:spPr>
          <a:xfrm>
            <a:off x="1028700" y="94747"/>
            <a:ext cx="358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en-US" sz="4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1654B05-014C-4E1C-866E-763D6609782D}"/>
              </a:ext>
            </a:extLst>
          </p:cNvPr>
          <p:cNvSpPr txBox="1"/>
          <p:nvPr/>
        </p:nvSpPr>
        <p:spPr>
          <a:xfrm>
            <a:off x="298450" y="537489"/>
            <a:ext cx="5264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3B01AB4-121D-486F-8A57-955CDFB12F3F}"/>
              </a:ext>
            </a:extLst>
          </p:cNvPr>
          <p:cNvSpPr txBox="1"/>
          <p:nvPr/>
        </p:nvSpPr>
        <p:spPr>
          <a:xfrm>
            <a:off x="6883400" y="821556"/>
            <a:ext cx="501015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huge upgrade to JavaScript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let, const (new variable keywords)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Arrow functions (() =&gt; {})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Modules (import/export)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248AFFC8-08C7-47F6-9665-BFC8C123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694257"/>
              </p:ext>
            </p:extLst>
          </p:nvPr>
        </p:nvGraphicFramePr>
        <p:xfrm>
          <a:off x="565150" y="821556"/>
          <a:ext cx="5264150" cy="5214888"/>
        </p:xfrm>
        <a:graphic>
          <a:graphicData uri="http://schemas.openxmlformats.org/drawingml/2006/table">
            <a:tbl>
              <a:tblPr/>
              <a:tblGrid>
                <a:gridCol w="2632075">
                  <a:extLst>
                    <a:ext uri="{9D8B030D-6E8A-4147-A177-3AD203B41FA5}">
                      <a16:colId xmlns:a16="http://schemas.microsoft.com/office/drawing/2014/main" xmlns="" val="949742187"/>
                    </a:ext>
                  </a:extLst>
                </a:gridCol>
                <a:gridCol w="2632075">
                  <a:extLst>
                    <a:ext uri="{9D8B030D-6E8A-4147-A177-3AD203B41FA5}">
                      <a16:colId xmlns:a16="http://schemas.microsoft.com/office/drawing/2014/main" xmlns="" val="4015207819"/>
                    </a:ext>
                  </a:extLst>
                </a:gridCol>
              </a:tblGrid>
              <a:tr h="869148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62168974"/>
                  </a:ext>
                </a:extLst>
              </a:tr>
              <a:tr h="869148">
                <a:tc>
                  <a:txBody>
                    <a:bodyPr/>
                    <a:lstStyle/>
                    <a:p>
                      <a:r>
                        <a:rPr lang="en-US" dirty="0"/>
                        <a:t>1995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Created by Brendan </a:t>
                      </a:r>
                      <a:r>
                        <a:rPr lang="en-IN" dirty="0" err="1"/>
                        <a:t>Eich</a:t>
                      </a:r>
                      <a:r>
                        <a:rPr lang="en-IN" dirty="0"/>
                        <a:t> at Netscape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26436607"/>
                  </a:ext>
                </a:extLst>
              </a:tr>
              <a:tr h="869148">
                <a:tc>
                  <a:txBody>
                    <a:bodyPr/>
                    <a:lstStyle/>
                    <a:p>
                      <a:r>
                        <a:rPr lang="en-US"/>
                        <a:t>1996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 introduces JScript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73842918"/>
                  </a:ext>
                </a:extLst>
              </a:tr>
              <a:tr h="869148">
                <a:tc>
                  <a:txBody>
                    <a:bodyPr/>
                    <a:lstStyle/>
                    <a:p>
                      <a:r>
                        <a:rPr lang="en-US" dirty="0"/>
                        <a:t>1997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Standardized as ECMAScript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47256835"/>
                  </a:ext>
                </a:extLst>
              </a:tr>
              <a:tr h="869148">
                <a:tc>
                  <a:txBody>
                    <a:bodyPr/>
                    <a:lstStyle/>
                    <a:p>
                      <a:r>
                        <a:rPr lang="en-US"/>
                        <a:t>2009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Node.js lets JS run outside browsers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67914191"/>
                  </a:ext>
                </a:extLst>
              </a:tr>
              <a:tr h="869148">
                <a:tc>
                  <a:txBody>
                    <a:bodyPr/>
                    <a:lstStyle/>
                    <a:p>
                      <a:r>
                        <a:rPr lang="en-US"/>
                        <a:t>2015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ES6 introduces modern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20907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50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D400F2-7B3C-4F52-8F8F-A7966DF1E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212D6A-AF06-41F6-8A4B-1B8DA8E25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915988"/>
            <a:ext cx="11353800" cy="563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Including JavaScript in an HTML Page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&lt;script type="text/</a:t>
            </a:r>
            <a:r>
              <a:rPr lang="en-US" sz="2800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javascript</a:t>
            </a: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//JS code goes here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&lt;/script&gt;</a:t>
            </a:r>
          </a:p>
          <a:p>
            <a:pPr marL="0" indent="0">
              <a:buNone/>
            </a:pPr>
            <a:endParaRPr lang="en-US" sz="2800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Call an External JavaScript File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&lt;script </a:t>
            </a:r>
            <a:r>
              <a:rPr lang="en-US" sz="2800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src</a:t>
            </a: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="myscript.js"&gt;&lt;/script&gt;</a:t>
            </a:r>
          </a:p>
          <a:p>
            <a:pPr marL="0" indent="0">
              <a:buNone/>
            </a:pPr>
            <a:endParaRPr lang="en-US" sz="2800" b="1" dirty="0">
              <a:solidFill>
                <a:srgbClr val="0033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CC0066"/>
                </a:solidFill>
                <a:latin typeface="Consolas" panose="020B0609020204030204" pitchFamily="49" charset="0"/>
              </a:rPr>
              <a:t>Comments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Single line comments</a:t>
            </a:r>
            <a:endParaRPr lang="en-US" sz="2800" b="1" dirty="0">
              <a:solidFill>
                <a:srgbClr val="0033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//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/* comment here */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Consolas" panose="020B0609020204030204" pitchFamily="49" charset="0"/>
              </a:rPr>
              <a:t>Multi-line comments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61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718F51D-60E2-4223-9B94-519E9648113B}"/>
              </a:ext>
            </a:extLst>
          </p:cNvPr>
          <p:cNvSpPr txBox="1"/>
          <p:nvPr/>
        </p:nvSpPr>
        <p:spPr>
          <a:xfrm>
            <a:off x="1079500" y="-101600"/>
            <a:ext cx="89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D5511B-905E-4DF2-BAEB-2EA1D82AA6FD}"/>
              </a:ext>
            </a:extLst>
          </p:cNvPr>
          <p:cNvSpPr txBox="1"/>
          <p:nvPr/>
        </p:nvSpPr>
        <p:spPr>
          <a:xfrm>
            <a:off x="3765550" y="544731"/>
            <a:ext cx="459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CCC2A6D-4EA9-4023-9455-058A7AA58296}"/>
              </a:ext>
            </a:extLst>
          </p:cNvPr>
          <p:cNvSpPr txBox="1"/>
          <p:nvPr/>
        </p:nvSpPr>
        <p:spPr>
          <a:xfrm>
            <a:off x="501650" y="1595021"/>
            <a:ext cx="11188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</a:p>
          <a:p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variable. Can be reassigned but only accessed within a function. Variables defined with var move to the top when code is executed.</a:t>
            </a:r>
          </a:p>
          <a:p>
            <a:endParaRPr lang="en-US" sz="2800" b="1" dirty="0">
              <a:solidFill>
                <a:srgbClr val="CC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</a:p>
          <a:p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be reassigned and not accessible before they appear within the code.</a:t>
            </a:r>
          </a:p>
          <a:p>
            <a:endParaRPr lang="en-US" sz="2800" b="1" dirty="0">
              <a:solidFill>
                <a:srgbClr val="CC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</a:p>
          <a:p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const, however, let variable can be reassigned but not re-declared.</a:t>
            </a:r>
          </a:p>
        </p:txBody>
      </p:sp>
    </p:spTree>
    <p:extLst>
      <p:ext uri="{BB962C8B-B14F-4D97-AF65-F5344CB8AC3E}">
        <p14:creationId xmlns:p14="http://schemas.microsoft.com/office/powerpoint/2010/main" val="108206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F5C0B9-31EF-4847-87DA-D18DF18E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74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DATATYPES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FF6591E-46D6-46EE-8E20-351BBBD3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1225"/>
            <a:ext cx="10515600" cy="5134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en-US" sz="2400" b="1" dirty="0">
              <a:solidFill>
                <a:srgbClr val="CC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 = 23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(strings)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 "</a:t>
            </a:r>
            <a:r>
              <a:rPr lang="en-US" sz="24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= 1 + 2 + 3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C26DC7F-1751-4F94-9F64-72F6CE9B9166}"/>
              </a:ext>
            </a:extLst>
          </p:cNvPr>
          <p:cNvSpPr txBox="1"/>
          <p:nvPr/>
        </p:nvSpPr>
        <p:spPr>
          <a:xfrm>
            <a:off x="3695700" y="812741"/>
            <a:ext cx="6096000" cy="7480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 statements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c = true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numbers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 PI = 3.14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name = {</a:t>
            </a:r>
            <a:r>
              <a:rPr lang="en-US" sz="28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:"John", </a:t>
            </a:r>
            <a:r>
              <a:rPr lang="en-US" sz="28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:”Doe"}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0000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51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0B70AA1-C1BA-49EC-8036-B8945D70081A}"/>
              </a:ext>
            </a:extLst>
          </p:cNvPr>
          <p:cNvSpPr txBox="1"/>
          <p:nvPr/>
        </p:nvSpPr>
        <p:spPr>
          <a:xfrm>
            <a:off x="876300" y="393700"/>
            <a:ext cx="82677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name = "Alice";      // Can be changed</a:t>
            </a:r>
          </a:p>
          <a:p>
            <a:r>
              <a:rPr lang="en-US" dirty="0"/>
              <a:t>const age = 25;          // Cannot be changed</a:t>
            </a:r>
          </a:p>
          <a:p>
            <a:r>
              <a:rPr lang="en-US" dirty="0"/>
              <a:t>var city = "Paris";      // Old way (avoid using now)</a:t>
            </a:r>
          </a:p>
          <a:p>
            <a:endParaRPr lang="en-US" dirty="0"/>
          </a:p>
          <a:p>
            <a:r>
              <a:rPr lang="en-IN" dirty="0"/>
              <a:t>let name = "John";      // String</a:t>
            </a:r>
          </a:p>
          <a:p>
            <a:r>
              <a:rPr lang="en-IN" dirty="0"/>
              <a:t>let age = 30;           // Number</a:t>
            </a:r>
          </a:p>
          <a:p>
            <a:r>
              <a:rPr lang="en-IN" dirty="0"/>
              <a:t>let </a:t>
            </a:r>
            <a:r>
              <a:rPr lang="en-IN" dirty="0" err="1"/>
              <a:t>isStudent</a:t>
            </a:r>
            <a:r>
              <a:rPr lang="en-IN" dirty="0"/>
              <a:t> = true;   // Boolean</a:t>
            </a:r>
          </a:p>
          <a:p>
            <a:r>
              <a:rPr lang="en-IN" dirty="0"/>
              <a:t>let x;                  // Undefined</a:t>
            </a:r>
          </a:p>
          <a:p>
            <a:r>
              <a:rPr lang="en-IN" dirty="0"/>
              <a:t>let empty = null;       // Null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39C1F4B-D77E-46B1-840D-197DC015F88A}"/>
              </a:ext>
            </a:extLst>
          </p:cNvPr>
          <p:cNvSpPr txBox="1"/>
          <p:nvPr/>
        </p:nvSpPr>
        <p:spPr>
          <a:xfrm>
            <a:off x="965200" y="3340100"/>
            <a:ext cx="792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console.log("Hello, world!");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EC12937-B2B1-4BFB-9AF8-C7F6E928E0EC}"/>
              </a:ext>
            </a:extLst>
          </p:cNvPr>
          <p:cNvSpPr txBox="1"/>
          <p:nvPr/>
        </p:nvSpPr>
        <p:spPr>
          <a:xfrm>
            <a:off x="5842000" y="101580"/>
            <a:ext cx="5918200" cy="2029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C0066"/>
                </a:solidFill>
                <a:latin typeface="Consolas" panose="020B0609020204030204" pitchFamily="49" charset="0"/>
              </a:rPr>
              <a:t>Objects </a:t>
            </a:r>
          </a:p>
          <a:p>
            <a:r>
              <a:rPr lang="en-US" sz="1800" b="1" dirty="0">
                <a:solidFill>
                  <a:srgbClr val="000099"/>
                </a:solidFill>
                <a:latin typeface="Consolas" panose="020B0609020204030204" pitchFamily="49" charset="0"/>
              </a:rPr>
              <a:t>var person = { </a:t>
            </a:r>
            <a:r>
              <a:rPr lang="en-US" sz="1800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firstName</a:t>
            </a:r>
            <a:r>
              <a:rPr lang="en-US" sz="1800" b="1" dirty="0">
                <a:solidFill>
                  <a:srgbClr val="000099"/>
                </a:solidFill>
                <a:latin typeface="Consolas" panose="020B0609020204030204" pitchFamily="49" charset="0"/>
              </a:rPr>
              <a:t>:"John", </a:t>
            </a:r>
            <a:r>
              <a:rPr lang="en-US" sz="1800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lastName</a:t>
            </a:r>
            <a:r>
              <a:rPr lang="en-US" sz="1800" b="1" dirty="0">
                <a:solidFill>
                  <a:srgbClr val="000099"/>
                </a:solidFill>
                <a:latin typeface="Consolas" panose="020B0609020204030204" pitchFamily="49" charset="0"/>
              </a:rPr>
              <a:t>:"Doe", age:20, </a:t>
            </a:r>
            <a:r>
              <a:rPr lang="en-US" sz="1800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nationality:"German</a:t>
            </a:r>
            <a:r>
              <a:rPr lang="en-US" sz="1800" b="1" dirty="0">
                <a:solidFill>
                  <a:srgbClr val="000099"/>
                </a:solidFill>
                <a:latin typeface="Consolas" panose="020B0609020204030204" pitchFamily="49" charset="0"/>
              </a:rPr>
              <a:t>" };</a:t>
            </a:r>
          </a:p>
          <a:p>
            <a:endParaRPr lang="en-US" sz="1800" b="1" dirty="0">
              <a:solidFill>
                <a:srgbClr val="000099"/>
              </a:solidFill>
              <a:latin typeface="Consolas" panose="020B0609020204030204" pitchFamily="49" charset="0"/>
            </a:endParaRPr>
          </a:p>
          <a:p>
            <a:r>
              <a:rPr lang="en-US" sz="1800" b="1" dirty="0">
                <a:solidFill>
                  <a:srgbClr val="000099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C0066"/>
                </a:solidFill>
                <a:latin typeface="Consolas" panose="020B0609020204030204" pitchFamily="49" charset="0"/>
              </a:rPr>
              <a:t>Arrays</a:t>
            </a:r>
          </a:p>
          <a:p>
            <a:r>
              <a:rPr lang="en-US" sz="1800" b="1" dirty="0">
                <a:solidFill>
                  <a:srgbClr val="000099"/>
                </a:solidFill>
                <a:latin typeface="Consolas" panose="020B0609020204030204" pitchFamily="49" charset="0"/>
              </a:rPr>
              <a:t> var fruit = ["Banana", "Apple", "Pear"];</a:t>
            </a:r>
          </a:p>
        </p:txBody>
      </p:sp>
    </p:spTree>
    <p:extLst>
      <p:ext uri="{BB962C8B-B14F-4D97-AF65-F5344CB8AC3E}">
        <p14:creationId xmlns:p14="http://schemas.microsoft.com/office/powerpoint/2010/main" val="247407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09518C2-2AED-4219-86BC-7394705EFCAA}"/>
              </a:ext>
            </a:extLst>
          </p:cNvPr>
          <p:cNvSpPr txBox="1"/>
          <p:nvPr/>
        </p:nvSpPr>
        <p:spPr>
          <a:xfrm>
            <a:off x="444500" y="254000"/>
            <a:ext cx="5880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FUNCTION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8D0FD67-1744-4E98-8002-3B850E61FE2B}"/>
              </a:ext>
            </a:extLst>
          </p:cNvPr>
          <p:cNvSpPr txBox="1"/>
          <p:nvPr/>
        </p:nvSpPr>
        <p:spPr>
          <a:xfrm>
            <a:off x="444500" y="838775"/>
            <a:ext cx="11303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alert()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data in an alert box in the browser window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confirm()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 up a yes/no dialog and returns true/false depending on user click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console.log()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Writes information to the browser console, good for debugging purposes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directly to the HTML document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prompt() </a:t>
            </a: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an dialogue for user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5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DB6BA6-42B1-4504-94B7-C3F6A781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889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Operators and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D7AFB5-C287-4503-8589-3668D45B6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83568"/>
            <a:ext cx="10515600" cy="52498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What is an Expression?</a:t>
            </a:r>
          </a:p>
          <a:p>
            <a:r>
              <a:rPr lang="en-IN" dirty="0"/>
              <a:t>An </a:t>
            </a:r>
            <a:r>
              <a:rPr lang="en-IN" b="1" dirty="0"/>
              <a:t>expression</a:t>
            </a:r>
            <a:r>
              <a:rPr lang="en-IN" dirty="0"/>
              <a:t> is any valid piece of code that </a:t>
            </a:r>
            <a:r>
              <a:rPr lang="en-IN" b="1" dirty="0"/>
              <a:t>produces a value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dirty="0"/>
              <a:t>2 + 3           // 5</a:t>
            </a:r>
          </a:p>
          <a:p>
            <a:pPr marL="0" indent="0">
              <a:buNone/>
            </a:pPr>
            <a:r>
              <a:rPr lang="en-US" dirty="0"/>
              <a:t>"Hello" + " JS" // "Hello JS"</a:t>
            </a:r>
          </a:p>
          <a:p>
            <a:pPr marL="0" indent="0">
              <a:buNone/>
            </a:pPr>
            <a:r>
              <a:rPr lang="en-US" dirty="0"/>
              <a:t>x &gt; 5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is an Operator?</a:t>
            </a:r>
          </a:p>
          <a:p>
            <a:pPr marL="0" indent="0">
              <a:buNone/>
            </a:pPr>
            <a:r>
              <a:rPr lang="en-IN" dirty="0"/>
              <a:t>An </a:t>
            </a:r>
            <a:r>
              <a:rPr lang="en-IN" b="1" dirty="0"/>
              <a:t>operator</a:t>
            </a:r>
            <a:r>
              <a:rPr lang="en-IN" dirty="0"/>
              <a:t> is a symbol that performs an operation on values or variables (called operands).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2D8DBCF-272C-49E7-9482-F563D7E42416}"/>
              </a:ext>
            </a:extLst>
          </p:cNvPr>
          <p:cNvSpPr txBox="1"/>
          <p:nvPr/>
        </p:nvSpPr>
        <p:spPr>
          <a:xfrm>
            <a:off x="330200" y="266700"/>
            <a:ext cx="519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D9B459-BE93-43E3-B773-429B5C158B87}"/>
              </a:ext>
            </a:extLst>
          </p:cNvPr>
          <p:cNvSpPr txBox="1"/>
          <p:nvPr/>
        </p:nvSpPr>
        <p:spPr>
          <a:xfrm>
            <a:off x="2222500" y="913031"/>
            <a:ext cx="60960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  <a:p>
            <a:pPr marL="342900" indent="-342900">
              <a:buAutoNum type="arabicPeriod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Assignment Operators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Comparison Operators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Logical Operators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String Operators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Ternary Operator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7.Bitwise Operator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303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E8BFBD-FDCA-4EDA-A2D7-5D78BF4C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3. Control Flow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4919B0-C7DE-4C77-8F2D-38C661A5E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927100"/>
            <a:ext cx="11430000" cy="56642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IN" sz="4400" b="1" i="0" dirty="0">
                <a:solidFill>
                  <a:srgbClr val="000000"/>
                </a:solidFill>
                <a:effectLst/>
                <a:latin typeface="inherit"/>
              </a:rPr>
              <a:t>if statement</a:t>
            </a:r>
            <a:endParaRPr lang="en-IN" sz="4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consists of a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boolean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expression followed by one or more statements.</a:t>
            </a:r>
          </a:p>
          <a:p>
            <a:pPr marL="0" indent="0" algn="l">
              <a:buNone/>
            </a:pPr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sz="4400" b="1" i="0" dirty="0">
                <a:solidFill>
                  <a:srgbClr val="000000"/>
                </a:solidFill>
                <a:effectLst/>
                <a:latin typeface="inherit"/>
              </a:rPr>
              <a:t>if...else statement</a:t>
            </a:r>
            <a:endParaRPr lang="en-IN" sz="4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can be followed by an optional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else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statement, which executes when the Boolean expression is false.</a:t>
            </a:r>
          </a:p>
          <a:p>
            <a:pPr marL="0" indent="0" algn="l">
              <a:buNone/>
            </a:pPr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sz="4400" b="1" i="0" dirty="0">
                <a:solidFill>
                  <a:srgbClr val="000000"/>
                </a:solidFill>
                <a:effectLst/>
                <a:latin typeface="inherit"/>
              </a:rPr>
              <a:t>nested if statements</a:t>
            </a:r>
            <a:endParaRPr lang="en-IN" sz="4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use one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or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else-if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inside another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or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else-if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statement(s).</a:t>
            </a:r>
          </a:p>
          <a:p>
            <a:pPr marL="0" indent="0" algn="l">
              <a:buNone/>
            </a:pPr>
            <a:endParaRPr lang="en-I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sz="4400" b="1" i="0" dirty="0">
                <a:solidFill>
                  <a:srgbClr val="000000"/>
                </a:solidFill>
                <a:effectLst/>
                <a:latin typeface="inherit"/>
              </a:rPr>
              <a:t>switch statement</a:t>
            </a:r>
            <a:endParaRPr lang="en-IN" sz="4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 </a:t>
            </a:r>
            <a:r>
              <a:rPr lang="en-IN" b="1" i="0" dirty="0">
                <a:solidFill>
                  <a:srgbClr val="000000"/>
                </a:solidFill>
                <a:effectLst/>
                <a:latin typeface="inherit"/>
              </a:rPr>
              <a:t>switch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allows a variable to be tested for equality against a list of values.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40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88FCB0C-FE09-4154-AD10-818BA2A6A1B3}"/>
              </a:ext>
            </a:extLst>
          </p:cNvPr>
          <p:cNvSpPr txBox="1"/>
          <p:nvPr/>
        </p:nvSpPr>
        <p:spPr>
          <a:xfrm>
            <a:off x="736600" y="825500"/>
            <a:ext cx="388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age = 18;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(age &gt;= 18) {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console.log("Adult");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console.log("Minor");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69AFFB-3EF8-4125-8FC0-36044A28FFDF}"/>
              </a:ext>
            </a:extLst>
          </p:cNvPr>
          <p:cNvSpPr txBox="1"/>
          <p:nvPr/>
        </p:nvSpPr>
        <p:spPr>
          <a:xfrm>
            <a:off x="5232400" y="791865"/>
            <a:ext cx="56515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day = "Sunday";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(day)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case "Monday":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console.log("Start of week");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break;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case "Sunday":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console.log("Weekend");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break;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default: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console.log("Just another day");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37493EB-7121-4815-9B86-6F71937DEEF9}"/>
              </a:ext>
            </a:extLst>
          </p:cNvPr>
          <p:cNvSpPr txBox="1"/>
          <p:nvPr/>
        </p:nvSpPr>
        <p:spPr>
          <a:xfrm>
            <a:off x="838200" y="279400"/>
            <a:ext cx="321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/ else if / else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8E9BB75-E9A1-40EC-998B-38BC1214CC7C}"/>
              </a:ext>
            </a:extLst>
          </p:cNvPr>
          <p:cNvSpPr txBox="1"/>
          <p:nvPr/>
        </p:nvSpPr>
        <p:spPr>
          <a:xfrm>
            <a:off x="5219700" y="27940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2672127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15EE2B-45CE-4934-B412-C58657194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Loops and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3455C5-7103-4AB0-8EBC-E0FDE66B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838200"/>
            <a:ext cx="11823700" cy="6019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(before loop; condition for loop; execute after loop)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what to do during the loop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way to create a loop in </a:t>
            </a:r>
            <a:r>
              <a:rPr lang="en-US" sz="28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28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up conditions under which a loop executes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while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the while loop, however, it executes at least once and performs a check at the end to see if the condition is met to execute again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stop and exit the cycle at certain conditions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 parts of the cycle if certain conditions are met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01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D86FD5-D0BA-425D-9E26-B694138A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36525"/>
            <a:ext cx="10515600" cy="1325563"/>
          </a:xfrm>
        </p:spPr>
        <p:txBody>
          <a:bodyPr/>
          <a:lstStyle/>
          <a:p>
            <a:r>
              <a:rPr lang="en-US" dirty="0"/>
              <a:t>5.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EF593EF-48CB-4B10-A809-2739750C2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747212"/>
              </p:ext>
            </p:extLst>
          </p:nvPr>
        </p:nvGraphicFramePr>
        <p:xfrm>
          <a:off x="800100" y="1028700"/>
          <a:ext cx="10363200" cy="5346702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xmlns="" val="40717667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xmlns="" val="1139958492"/>
                    </a:ext>
                  </a:extLst>
                </a:gridCol>
              </a:tblGrid>
              <a:tr h="891117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483264"/>
                  </a:ext>
                </a:extLst>
              </a:tr>
              <a:tr h="891117">
                <a:tc>
                  <a:txBody>
                    <a:bodyPr/>
                    <a:lstStyle/>
                    <a:p>
                      <a:r>
                        <a:rPr lang="en-US" dirty="0"/>
                        <a:t>Function Declaration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 greet() {}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719853"/>
                  </a:ext>
                </a:extLst>
              </a:tr>
              <a:tr h="891117">
                <a:tc>
                  <a:txBody>
                    <a:bodyPr/>
                    <a:lstStyle/>
                    <a:p>
                      <a:r>
                        <a:rPr lang="en-US"/>
                        <a:t>With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 greet(name) {}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92113495"/>
                  </a:ext>
                </a:extLst>
              </a:tr>
              <a:tr h="891117">
                <a:tc>
                  <a:txBody>
                    <a:bodyPr/>
                    <a:lstStyle/>
                    <a:p>
                      <a:r>
                        <a:rPr lang="en-US" dirty="0"/>
                        <a:t>With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 a +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89994092"/>
                  </a:ext>
                </a:extLst>
              </a:tr>
              <a:tr h="891117">
                <a:tc>
                  <a:txBody>
                    <a:bodyPr/>
                    <a:lstStyle/>
                    <a:p>
                      <a:r>
                        <a:rPr lang="en-US"/>
                        <a:t>Function Expression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let fn = function() {}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25032499"/>
                  </a:ext>
                </a:extLst>
              </a:tr>
              <a:tr h="891117">
                <a:tc>
                  <a:txBody>
                    <a:bodyPr/>
                    <a:lstStyle/>
                    <a:p>
                      <a:r>
                        <a:rPr lang="en-US"/>
                        <a:t>Arrow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 </a:t>
                      </a:r>
                      <a:r>
                        <a:rPr lang="en-US" dirty="0" err="1"/>
                        <a:t>fn</a:t>
                      </a:r>
                      <a:r>
                        <a:rPr lang="en-US" dirty="0"/>
                        <a:t> = () =&gt; {}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30425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47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4BD862-12C2-4D17-A2BD-E2DD3DD25CC5}"/>
              </a:ext>
            </a:extLst>
          </p:cNvPr>
          <p:cNvSpPr txBox="1"/>
          <p:nvPr/>
        </p:nvSpPr>
        <p:spPr>
          <a:xfrm>
            <a:off x="927100" y="293469"/>
            <a:ext cx="6629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Types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75DD566-106F-4563-9DFC-003E3A3A6AE2}"/>
              </a:ext>
            </a:extLst>
          </p:cNvPr>
          <p:cNvSpPr txBox="1"/>
          <p:nvPr/>
        </p:nvSpPr>
        <p:spPr>
          <a:xfrm>
            <a:off x="927100" y="1473200"/>
            <a:ext cx="8890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</a:t>
            </a:r>
          </a:p>
          <a:p>
            <a:pPr marL="342900" indent="-342900">
              <a:buAutoNum type="arabicPeriod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Parameters</a:t>
            </a:r>
          </a:p>
          <a:p>
            <a:pPr marL="342900" indent="-342900">
              <a:buAutoNum type="arabicPeriod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Return Value</a:t>
            </a:r>
          </a:p>
          <a:p>
            <a:pPr marL="342900" indent="-342900">
              <a:buAutoNum type="arabicPeriod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Expressions</a:t>
            </a:r>
          </a:p>
          <a:p>
            <a:pPr marL="342900" indent="-342900">
              <a:buAutoNum type="arabicPeriod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 Functions (ES6+)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51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530178A-4639-4E4D-9323-83B20A1E50ED}"/>
              </a:ext>
            </a:extLst>
          </p:cNvPr>
          <p:cNvSpPr txBox="1"/>
          <p:nvPr/>
        </p:nvSpPr>
        <p:spPr>
          <a:xfrm>
            <a:off x="825500" y="112583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function greet() {</a:t>
            </a:r>
          </a:p>
          <a:p>
            <a:r>
              <a:rPr lang="en-US" sz="2000" dirty="0"/>
              <a:t>  console.log("Hello, world!");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55EBD38-7762-4C98-B5EF-4F8DE3609E1B}"/>
              </a:ext>
            </a:extLst>
          </p:cNvPr>
          <p:cNvSpPr txBox="1"/>
          <p:nvPr/>
        </p:nvSpPr>
        <p:spPr>
          <a:xfrm>
            <a:off x="736600" y="475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B09C367-603B-4DBE-A817-F3211A3C3822}"/>
              </a:ext>
            </a:extLst>
          </p:cNvPr>
          <p:cNvSpPr txBox="1"/>
          <p:nvPr/>
        </p:nvSpPr>
        <p:spPr>
          <a:xfrm>
            <a:off x="736600" y="23553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function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C961259-6211-484A-AE55-9F00C47A4EF9}"/>
              </a:ext>
            </a:extLst>
          </p:cNvPr>
          <p:cNvSpPr txBox="1"/>
          <p:nvPr/>
        </p:nvSpPr>
        <p:spPr>
          <a:xfrm>
            <a:off x="1638300" y="23553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→ keyword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9AB760B-2F0B-4AA8-B292-4FDAE7D9560A}"/>
              </a:ext>
            </a:extLst>
          </p:cNvPr>
          <p:cNvSpPr txBox="1"/>
          <p:nvPr/>
        </p:nvSpPr>
        <p:spPr>
          <a:xfrm>
            <a:off x="736600" y="28461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greet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D22790F-CD00-43B6-A4A8-2BB2BFEF14C0}"/>
              </a:ext>
            </a:extLst>
          </p:cNvPr>
          <p:cNvSpPr txBox="1"/>
          <p:nvPr/>
        </p:nvSpPr>
        <p:spPr>
          <a:xfrm>
            <a:off x="1638300" y="28461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→ function 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9F08B1E-8076-4B89-920E-7B32A0E9AB1A}"/>
              </a:ext>
            </a:extLst>
          </p:cNvPr>
          <p:cNvSpPr txBox="1"/>
          <p:nvPr/>
        </p:nvSpPr>
        <p:spPr>
          <a:xfrm>
            <a:off x="736600" y="34124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CA60856-33B1-4493-89BA-683D077A39E2}"/>
              </a:ext>
            </a:extLst>
          </p:cNvPr>
          <p:cNvSpPr txBox="1"/>
          <p:nvPr/>
        </p:nvSpPr>
        <p:spPr>
          <a:xfrm>
            <a:off x="1320800" y="342323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→ used to pass inputs (called parameters)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06E33A55-57F6-48FB-B139-A781A6B9623C}"/>
              </a:ext>
            </a:extLst>
          </p:cNvPr>
          <p:cNvSpPr txBox="1"/>
          <p:nvPr/>
        </p:nvSpPr>
        <p:spPr>
          <a:xfrm>
            <a:off x="736600" y="398151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{}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FE24BB6-A06C-4102-A3C8-68D52EF33273}"/>
              </a:ext>
            </a:extLst>
          </p:cNvPr>
          <p:cNvSpPr txBox="1"/>
          <p:nvPr/>
        </p:nvSpPr>
        <p:spPr>
          <a:xfrm>
            <a:off x="1320800" y="397865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→ code to run (function body)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7000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EE75895-1412-4631-B0EC-9B4EF4FBF84A}"/>
              </a:ext>
            </a:extLst>
          </p:cNvPr>
          <p:cNvSpPr txBox="1"/>
          <p:nvPr/>
        </p:nvSpPr>
        <p:spPr>
          <a:xfrm>
            <a:off x="914400" y="6535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Function with 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77E295-51BB-4332-A222-CE6A273E361E}"/>
              </a:ext>
            </a:extLst>
          </p:cNvPr>
          <p:cNvSpPr txBox="1"/>
          <p:nvPr/>
        </p:nvSpPr>
        <p:spPr>
          <a:xfrm>
            <a:off x="914400" y="1422400"/>
            <a:ext cx="7658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greetUser</a:t>
            </a:r>
            <a:r>
              <a:rPr lang="en-US" dirty="0"/>
              <a:t>(name) {</a:t>
            </a:r>
          </a:p>
          <a:p>
            <a:r>
              <a:rPr lang="en-US" dirty="0"/>
              <a:t>  console.log("Hello, " + name + "!");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greetUser</a:t>
            </a:r>
            <a:r>
              <a:rPr lang="en-US" dirty="0"/>
              <a:t>("Alice"); // Output: Hello, Alice!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20C7686-A931-47A1-82A3-44A9B7B0CA34}"/>
              </a:ext>
            </a:extLst>
          </p:cNvPr>
          <p:cNvSpPr txBox="1"/>
          <p:nvPr/>
        </p:nvSpPr>
        <p:spPr>
          <a:xfrm>
            <a:off x="685800" y="305966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Function with Return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3BE7C4F-0D13-4034-8CFD-2BD0DBFBDC72}"/>
              </a:ext>
            </a:extLst>
          </p:cNvPr>
          <p:cNvSpPr txBox="1"/>
          <p:nvPr/>
        </p:nvSpPr>
        <p:spPr>
          <a:xfrm>
            <a:off x="1016000" y="3987800"/>
            <a:ext cx="90551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add(a, b) {</a:t>
            </a:r>
          </a:p>
          <a:p>
            <a:r>
              <a:rPr lang="en-US" dirty="0"/>
              <a:t>  return a + b;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result = add(5, 3);</a:t>
            </a:r>
          </a:p>
          <a:p>
            <a:r>
              <a:rPr lang="en-US" dirty="0"/>
              <a:t>console.log(result); // Output: 8</a:t>
            </a:r>
          </a:p>
        </p:txBody>
      </p:sp>
    </p:spTree>
    <p:extLst>
      <p:ext uri="{BB962C8B-B14F-4D97-AF65-F5344CB8AC3E}">
        <p14:creationId xmlns:p14="http://schemas.microsoft.com/office/powerpoint/2010/main" val="187631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995CC6C-C759-474E-979C-644FC2FD683D}"/>
              </a:ext>
            </a:extLst>
          </p:cNvPr>
          <p:cNvSpPr txBox="1"/>
          <p:nvPr/>
        </p:nvSpPr>
        <p:spPr>
          <a:xfrm>
            <a:off x="838200" y="463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4. Function Expressions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5D82B0C-0527-4048-88B7-FAA1E92B6675}"/>
              </a:ext>
            </a:extLst>
          </p:cNvPr>
          <p:cNvSpPr txBox="1"/>
          <p:nvPr/>
        </p:nvSpPr>
        <p:spPr>
          <a:xfrm>
            <a:off x="1054100" y="1369536"/>
            <a:ext cx="7543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multiply = function(x, y) {</a:t>
            </a:r>
          </a:p>
          <a:p>
            <a:r>
              <a:rPr lang="en-US" dirty="0"/>
              <a:t>  return x * y;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console.log(multiply(4, 2)); // Output: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65A6FFF-B7F3-4745-8FC3-7E23BC950105}"/>
              </a:ext>
            </a:extLst>
          </p:cNvPr>
          <p:cNvSpPr txBox="1"/>
          <p:nvPr/>
        </p:nvSpPr>
        <p:spPr>
          <a:xfrm>
            <a:off x="838200" y="318323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5. Arrow Functions (ES6+)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1F4942-B715-42FB-BD01-E0F203A4E41E}"/>
              </a:ext>
            </a:extLst>
          </p:cNvPr>
          <p:cNvSpPr txBox="1"/>
          <p:nvPr/>
        </p:nvSpPr>
        <p:spPr>
          <a:xfrm>
            <a:off x="1054100" y="3766572"/>
            <a:ext cx="843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greet = () =&gt; {</a:t>
            </a:r>
          </a:p>
          <a:p>
            <a:r>
              <a:rPr lang="en-US" dirty="0"/>
              <a:t>  console.log("Hi there!");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const square = (x) =&gt; x * x;</a:t>
            </a:r>
          </a:p>
          <a:p>
            <a:endParaRPr lang="en-US" dirty="0"/>
          </a:p>
          <a:p>
            <a:r>
              <a:rPr lang="en-US" dirty="0"/>
              <a:t>greet();            // Output: Hi there!</a:t>
            </a:r>
          </a:p>
          <a:p>
            <a:r>
              <a:rPr lang="en-US" dirty="0"/>
              <a:t>console.log(square(4)); // Output: 16</a:t>
            </a:r>
          </a:p>
        </p:txBody>
      </p:sp>
    </p:spTree>
    <p:extLst>
      <p:ext uri="{BB962C8B-B14F-4D97-AF65-F5344CB8AC3E}">
        <p14:creationId xmlns:p14="http://schemas.microsoft.com/office/powerpoint/2010/main" val="1616620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C497C6-0FC2-411C-8B12-390BCA6DB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7551" y="1692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DD021F-4120-4427-964D-A68D87D76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36" y="1494809"/>
            <a:ext cx="11125200" cy="6070599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special variable that can hold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values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once — like a container or list.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Array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fruits = ["Apple", "Banana", "Mango"];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91D228D-66AE-4164-8988-FD8A24F3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4763026"/>
            <a:ext cx="105566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 are stored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square brackets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item is separated by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store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strings, numbers,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even other arrays/objects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246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49B83F9-99F2-4823-804B-5A8C013D8878}"/>
              </a:ext>
            </a:extLst>
          </p:cNvPr>
          <p:cNvSpPr txBox="1"/>
          <p:nvPr/>
        </p:nvSpPr>
        <p:spPr>
          <a:xfrm>
            <a:off x="584200" y="23443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Accessing Array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DA35686-23DE-4CE4-B6C7-78F2B41BD4E5}"/>
              </a:ext>
            </a:extLst>
          </p:cNvPr>
          <p:cNvSpPr txBox="1"/>
          <p:nvPr/>
        </p:nvSpPr>
        <p:spPr>
          <a:xfrm>
            <a:off x="749300" y="1061135"/>
            <a:ext cx="10871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console.log(fruits[0]); // Apple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console.log(fruits[2]); // Mango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6BFAE31-27D2-4989-90C8-10EBFBEC02C4}"/>
              </a:ext>
            </a:extLst>
          </p:cNvPr>
          <p:cNvSpPr txBox="1"/>
          <p:nvPr/>
        </p:nvSpPr>
        <p:spPr>
          <a:xfrm>
            <a:off x="584200" y="21340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Changing Array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D223E2B-1B0F-4D98-96A0-6543E4A3D0C9}"/>
              </a:ext>
            </a:extLst>
          </p:cNvPr>
          <p:cNvSpPr txBox="1"/>
          <p:nvPr/>
        </p:nvSpPr>
        <p:spPr>
          <a:xfrm>
            <a:off x="749300" y="3105834"/>
            <a:ext cx="1178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fruits[1] = "Orange";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console.log(fruits); // ["Apple", "Orange", "Mango"]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F21FDE-C442-463B-B0EB-5CD1C2D59A6A}"/>
              </a:ext>
            </a:extLst>
          </p:cNvPr>
          <p:cNvSpPr txBox="1"/>
          <p:nvPr/>
        </p:nvSpPr>
        <p:spPr>
          <a:xfrm>
            <a:off x="444500" y="409523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Looping through Arrays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628E491-0C2C-426E-B029-BE6234AE39AB}"/>
              </a:ext>
            </a:extLst>
          </p:cNvPr>
          <p:cNvSpPr txBox="1"/>
          <p:nvPr/>
        </p:nvSpPr>
        <p:spPr>
          <a:xfrm>
            <a:off x="1012824" y="4873534"/>
            <a:ext cx="69500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(let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fruits.length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console.log(fruits[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655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334E1605-E098-481F-8AD7-C5C8B5AEC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40622"/>
              </p:ext>
            </p:extLst>
          </p:nvPr>
        </p:nvGraphicFramePr>
        <p:xfrm>
          <a:off x="393700" y="1041400"/>
          <a:ext cx="11607801" cy="5219703"/>
        </p:xfrm>
        <a:graphic>
          <a:graphicData uri="http://schemas.openxmlformats.org/drawingml/2006/table">
            <a:tbl>
              <a:tblPr/>
              <a:tblGrid>
                <a:gridCol w="3869267">
                  <a:extLst>
                    <a:ext uri="{9D8B030D-6E8A-4147-A177-3AD203B41FA5}">
                      <a16:colId xmlns:a16="http://schemas.microsoft.com/office/drawing/2014/main" xmlns="" val="3553417747"/>
                    </a:ext>
                  </a:extLst>
                </a:gridCol>
                <a:gridCol w="3869267">
                  <a:extLst>
                    <a:ext uri="{9D8B030D-6E8A-4147-A177-3AD203B41FA5}">
                      <a16:colId xmlns:a16="http://schemas.microsoft.com/office/drawing/2014/main" xmlns="" val="2590495322"/>
                    </a:ext>
                  </a:extLst>
                </a:gridCol>
                <a:gridCol w="3869267">
                  <a:extLst>
                    <a:ext uri="{9D8B030D-6E8A-4147-A177-3AD203B41FA5}">
                      <a16:colId xmlns:a16="http://schemas.microsoft.com/office/drawing/2014/main" xmlns="" val="2043930372"/>
                    </a:ext>
                  </a:extLst>
                </a:gridCol>
              </a:tblGrid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00028421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to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fruits.push("Grapes")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03951138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from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fruits.pop()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58244522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unshift()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to 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fruits.unshift("Lemon")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42724810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from 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fruits.shift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85296267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total number of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78786116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indexOf()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 index of a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fruits.indexOf("Mango")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75615314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if value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fruits.includes("Banana")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39612880"/>
                  </a:ext>
                </a:extLst>
              </a:tr>
              <a:tr h="579967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all items into a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fruits.join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(", 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971809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AB2E02-8636-4587-ADBC-9243411E0368}"/>
              </a:ext>
            </a:extLst>
          </p:cNvPr>
          <p:cNvSpPr txBox="1"/>
          <p:nvPr/>
        </p:nvSpPr>
        <p:spPr>
          <a:xfrm>
            <a:off x="393700" y="120134"/>
            <a:ext cx="8750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Array Methods (Common &amp; Useful)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99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ABF345-AFF8-4174-9B6F-2C34B31A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04040"/>
            <a:ext cx="10515600" cy="1325563"/>
          </a:xfrm>
        </p:spPr>
        <p:txBody>
          <a:bodyPr/>
          <a:lstStyle/>
          <a:p>
            <a:r>
              <a:rPr lang="en-US" dirty="0"/>
              <a:t>7.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802726-A038-443F-9ADD-D2E663A20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912018"/>
            <a:ext cx="11099800" cy="5945982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Object?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collection of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key–value pairs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it like a real-world item (e.g., a "person" or a "car") with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Object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person = {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name: "Alice",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age: 25,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isStudent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true};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130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76EA4D-F6ED-4E81-BBC7-CB50B175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49225"/>
            <a:ext cx="10515600" cy="6762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Object Properties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F8EA28-F6ED-4E98-8343-9173C52CC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936625"/>
            <a:ext cx="11049000" cy="26320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console.log(person.name);      // Alice</a:t>
            </a:r>
          </a:p>
          <a:p>
            <a:pPr marL="0" indent="0">
              <a:buNone/>
            </a:pPr>
            <a:r>
              <a:rPr lang="en-US" dirty="0"/>
              <a:t>console.log(person["age"]);    // 25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Object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/>
              <a:t>person.age</a:t>
            </a:r>
            <a:r>
              <a:rPr lang="en-US" dirty="0"/>
              <a:t> = 26;</a:t>
            </a:r>
          </a:p>
          <a:p>
            <a:pPr marL="0" indent="0">
              <a:buNone/>
            </a:pPr>
            <a:r>
              <a:rPr lang="en-US" dirty="0"/>
              <a:t>person["</a:t>
            </a:r>
            <a:r>
              <a:rPr lang="en-US" dirty="0" err="1"/>
              <a:t>isStudent</a:t>
            </a:r>
            <a:r>
              <a:rPr lang="en-US" dirty="0"/>
              <a:t>"] = false;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2288A34-E813-4C24-8194-EE882A2564E6}"/>
              </a:ext>
            </a:extLst>
          </p:cNvPr>
          <p:cNvSpPr txBox="1"/>
          <p:nvPr/>
        </p:nvSpPr>
        <p:spPr>
          <a:xfrm>
            <a:off x="304800" y="3568700"/>
            <a:ext cx="11557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Objects?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grouped, related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real-world entities (user, product, post,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everywhere in JS — including in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props/state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5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40C7061F-7A99-44E0-96C3-448EFB4A1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131311"/>
              </p:ext>
            </p:extLst>
          </p:nvPr>
        </p:nvGraphicFramePr>
        <p:xfrm>
          <a:off x="685800" y="520700"/>
          <a:ext cx="10871200" cy="5664198"/>
        </p:xfrm>
        <a:graphic>
          <a:graphicData uri="http://schemas.openxmlformats.org/drawingml/2006/table">
            <a:tbl>
              <a:tblPr/>
              <a:tblGrid>
                <a:gridCol w="5435600">
                  <a:extLst>
                    <a:ext uri="{9D8B030D-6E8A-4147-A177-3AD203B41FA5}">
                      <a16:colId xmlns:a16="http://schemas.microsoft.com/office/drawing/2014/main" xmlns="" val="4141065556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xmlns="" val="1912516123"/>
                    </a:ext>
                  </a:extLst>
                </a:gridCol>
              </a:tblGrid>
              <a:tr h="944033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33940680"/>
                  </a:ext>
                </a:extLst>
              </a:tr>
              <a:tr h="944033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obj = { key: value 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31158042"/>
                  </a:ext>
                </a:extLst>
              </a:tr>
              <a:tr h="944033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obj.key or obj["key"]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01410025"/>
                  </a:ext>
                </a:extLst>
              </a:tr>
              <a:tr h="944033">
                <a:tc>
                  <a:txBody>
                    <a:bodyPr/>
                    <a:lstStyle/>
                    <a:p>
                      <a:r>
                        <a:rPr lang="en-US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Add/Edit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obj.newKey =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50877973"/>
                  </a:ext>
                </a:extLst>
              </a:tr>
              <a:tr h="944033">
                <a:tc>
                  <a:txBody>
                    <a:bodyPr/>
                    <a:lstStyle/>
                    <a:p>
                      <a:r>
                        <a:rPr lang="en-US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obj.key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91969332"/>
                  </a:ext>
                </a:extLst>
              </a:tr>
              <a:tr h="944033">
                <a:tc>
                  <a:txBody>
                    <a:bodyPr/>
                    <a:lstStyle/>
                    <a:p>
                      <a:r>
                        <a:rPr lang="en-US" sz="3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(let key in </a:t>
                      </a:r>
                      <a:r>
                        <a:rPr lang="en-IN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</a:t>
                      </a:r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933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341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AF8D5E-CA9B-47BD-B0FD-EC203197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18" y="12780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DOM Manipulation (Intro)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2EF4E3-A04D-4813-90AA-F473FF2F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30288"/>
            <a:ext cx="11620500" cy="54848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DOM?</a:t>
            </a: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Object Model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tree-like structure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represents everything inside an HTML document — elements like headings, paragraphs, buttons, etc.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uses the DOM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 with and manipulate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&amp; CSS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creates the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 turns it into 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JavaScript-accessible object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can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read, change, add, or delete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using the DOM.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246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E9DF7A9-439D-4AA7-959B-A1A355BDFA87}"/>
              </a:ext>
            </a:extLst>
          </p:cNvPr>
          <p:cNvSpPr txBox="1"/>
          <p:nvPr/>
        </p:nvSpPr>
        <p:spPr>
          <a:xfrm>
            <a:off x="241300" y="2217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DOM Structure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765AA67-C14F-46C9-9FED-9632B21F10E0}"/>
              </a:ext>
            </a:extLst>
          </p:cNvPr>
          <p:cNvSpPr txBox="1"/>
          <p:nvPr/>
        </p:nvSpPr>
        <p:spPr>
          <a:xfrm>
            <a:off x="609600" y="914400"/>
            <a:ext cx="9664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&lt;body&gt;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&lt;h1 id="title"&gt;Hello!&lt;/h1&gt;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 onclick="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changeText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()"&gt;Click Me&lt;/button&gt;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&lt;/body&gt;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7ED2B5C-55E7-4782-9497-8454300F162F}"/>
              </a:ext>
            </a:extLst>
          </p:cNvPr>
          <p:cNvSpPr txBox="1"/>
          <p:nvPr/>
        </p:nvSpPr>
        <p:spPr>
          <a:xfrm>
            <a:off x="330200" y="3123168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manipulate it in JS like this: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EEA5360-782E-409E-9AD2-714136DEFFE4}"/>
              </a:ext>
            </a:extLst>
          </p:cNvPr>
          <p:cNvSpPr txBox="1"/>
          <p:nvPr/>
        </p:nvSpPr>
        <p:spPr>
          <a:xfrm>
            <a:off x="762000" y="4189275"/>
            <a:ext cx="95123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changeText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("title").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innerText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"You clicked the button!";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7543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C7108E1-C803-453A-B1A7-1491BBE0C340}"/>
              </a:ext>
            </a:extLst>
          </p:cNvPr>
          <p:cNvSpPr txBox="1"/>
          <p:nvPr/>
        </p:nvSpPr>
        <p:spPr>
          <a:xfrm>
            <a:off x="495300" y="1836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Key Methods (Most Common)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E46A7E73-2526-4D9E-828D-42CB1C8BB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443301"/>
              </p:ext>
            </p:extLst>
          </p:nvPr>
        </p:nvGraphicFramePr>
        <p:xfrm>
          <a:off x="495300" y="850900"/>
          <a:ext cx="11658600" cy="5428828"/>
        </p:xfrm>
        <a:graphic>
          <a:graphicData uri="http://schemas.openxmlformats.org/drawingml/2006/table">
            <a:tbl>
              <a:tblPr/>
              <a:tblGrid>
                <a:gridCol w="5829300">
                  <a:extLst>
                    <a:ext uri="{9D8B030D-6E8A-4147-A177-3AD203B41FA5}">
                      <a16:colId xmlns:a16="http://schemas.microsoft.com/office/drawing/2014/main" xmlns="" val="3993653216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xmlns="" val="906761559"/>
                    </a:ext>
                  </a:extLst>
                </a:gridCol>
              </a:tblGrid>
              <a:tr h="884767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0264090"/>
                  </a:ext>
                </a:extLst>
              </a:tr>
              <a:tr h="884767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document.getElementById()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element by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4826722"/>
                  </a:ext>
                </a:extLst>
              </a:tr>
              <a:tr h="884767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document.getElementsByClassName()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elements by class name (HTMLCollection)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24032037"/>
                  </a:ext>
                </a:extLst>
              </a:tr>
              <a:tr h="884767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document.getElementsByTagName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elements by tag name (HTMLCollection)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8524904"/>
                  </a:ext>
                </a:extLst>
              </a:tr>
              <a:tr h="884767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document.querySelector()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</a:t>
                      </a:r>
                      <a:r>
                        <a:rPr lang="en-I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match (CSS selector)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04116850"/>
                  </a:ext>
                </a:extLst>
              </a:tr>
              <a:tr h="884767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document.querySelectorAll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matches (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NodeList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6653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805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109AEE1-8829-4FC2-9ACB-145475D1A9E7}"/>
              </a:ext>
            </a:extLst>
          </p:cNvPr>
          <p:cNvSpPr txBox="1"/>
          <p:nvPr/>
        </p:nvSpPr>
        <p:spPr>
          <a:xfrm>
            <a:off x="596900" y="34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Property Examples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3B13C425-44CE-46F5-8D0A-AB699F2B2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93478"/>
              </p:ext>
            </p:extLst>
          </p:nvPr>
        </p:nvGraphicFramePr>
        <p:xfrm>
          <a:off x="596900" y="1257300"/>
          <a:ext cx="10909300" cy="5059680"/>
        </p:xfrm>
        <a:graphic>
          <a:graphicData uri="http://schemas.openxmlformats.org/drawingml/2006/table">
            <a:tbl>
              <a:tblPr/>
              <a:tblGrid>
                <a:gridCol w="5454650">
                  <a:extLst>
                    <a:ext uri="{9D8B030D-6E8A-4147-A177-3AD203B41FA5}">
                      <a16:colId xmlns:a16="http://schemas.microsoft.com/office/drawing/2014/main" xmlns="" val="321155681"/>
                    </a:ext>
                  </a:extLst>
                </a:gridCol>
                <a:gridCol w="5454650">
                  <a:extLst>
                    <a:ext uri="{9D8B030D-6E8A-4147-A177-3AD203B41FA5}">
                      <a16:colId xmlns:a16="http://schemas.microsoft.com/office/drawing/2014/main" xmlns="" val="3373841661"/>
                    </a:ext>
                  </a:extLst>
                </a:gridCol>
              </a:tblGrid>
              <a:tr h="998220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7552650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.inner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or gets the </a:t>
                      </a: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content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48828570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.innerHTML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or gets the </a:t>
                      </a:r>
                      <a:r>
                        <a:rPr lang="en-IN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content</a:t>
                      </a:r>
                      <a:endParaRPr lang="en-IN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41201457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</a:t>
                      </a:r>
                      <a:r>
                        <a:rPr lang="en-US" sz="3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 styles</a:t>
                      </a:r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directly via 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78534604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Get/set value of input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61567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425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CCFDEFA-99B2-4513-BE80-9279AE70491E}"/>
              </a:ext>
            </a:extLst>
          </p:cNvPr>
          <p:cNvSpPr txBox="1"/>
          <p:nvPr/>
        </p:nvSpPr>
        <p:spPr>
          <a:xfrm>
            <a:off x="279400" y="2090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Change Text and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450927E-B7B3-4EDE-B67C-73BC50C9ACCF}"/>
              </a:ext>
            </a:extLst>
          </p:cNvPr>
          <p:cNvSpPr txBox="1"/>
          <p:nvPr/>
        </p:nvSpPr>
        <p:spPr>
          <a:xfrm>
            <a:off x="609600" y="793809"/>
            <a:ext cx="107061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 id="demo"&gt;Welcome&lt;/h2&gt;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&lt;button onclick="change()"&gt;Change&lt;/button&gt;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function change()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("demo");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elem.innerText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"Hello from JS!";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elem.style.color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"blue";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EA5E4754-65E7-4962-8568-01A04068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4682627"/>
            <a:ext cx="11099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DOM lets JS interact with the web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access, change, or add/remove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how you build interactive, dynamic websites.</a:t>
            </a:r>
          </a:p>
        </p:txBody>
      </p:sp>
    </p:spTree>
    <p:extLst>
      <p:ext uri="{BB962C8B-B14F-4D97-AF65-F5344CB8AC3E}">
        <p14:creationId xmlns:p14="http://schemas.microsoft.com/office/powerpoint/2010/main" val="3175274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9D8338-B064-433F-8816-386FE13F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04" y="497959"/>
            <a:ext cx="10515600" cy="1325563"/>
          </a:xfrm>
        </p:spPr>
        <p:txBody>
          <a:bodyPr/>
          <a:lstStyle/>
          <a:p>
            <a:r>
              <a:rPr lang="en-IN" dirty="0"/>
              <a:t>9. Events and Event Handling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EBFAC39-A231-4468-B618-959D6F8A77FF}"/>
              </a:ext>
            </a:extLst>
          </p:cNvPr>
          <p:cNvSpPr txBox="1"/>
          <p:nvPr/>
        </p:nvSpPr>
        <p:spPr>
          <a:xfrm>
            <a:off x="596900" y="18235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Event Handling?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95946DB0-DE24-44B6-A8A4-19F24D0E2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04" y="3216176"/>
            <a:ext cx="960509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how you tell JavaScript: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“Hey! When this happens, do that!”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write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(called an event handler)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run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an event occurs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797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651200-173D-45E3-B9D1-75379F0D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213815"/>
            <a:ext cx="8596668" cy="1320800"/>
          </a:xfrm>
        </p:spPr>
        <p:txBody>
          <a:bodyPr/>
          <a:lstStyle/>
          <a:p>
            <a:r>
              <a:rPr lang="en-US" dirty="0"/>
              <a:t>Common HTML Events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732DC29-1645-48B4-AFC4-19DE433CE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66355"/>
              </p:ext>
            </p:extLst>
          </p:nvPr>
        </p:nvGraphicFramePr>
        <p:xfrm>
          <a:off x="265309" y="1092199"/>
          <a:ext cx="11290300" cy="4892672"/>
        </p:xfrm>
        <a:graphic>
          <a:graphicData uri="http://schemas.openxmlformats.org/drawingml/2006/table">
            <a:tbl>
              <a:tblPr/>
              <a:tblGrid>
                <a:gridCol w="5645150">
                  <a:extLst>
                    <a:ext uri="{9D8B030D-6E8A-4147-A177-3AD203B41FA5}">
                      <a16:colId xmlns:a16="http://schemas.microsoft.com/office/drawing/2014/main" xmlns="" val="473589231"/>
                    </a:ext>
                  </a:extLst>
                </a:gridCol>
                <a:gridCol w="5645150">
                  <a:extLst>
                    <a:ext uri="{9D8B030D-6E8A-4147-A177-3AD203B41FA5}">
                      <a16:colId xmlns:a16="http://schemas.microsoft.com/office/drawing/2014/main" xmlns="" val="910399707"/>
                    </a:ext>
                  </a:extLst>
                </a:gridCol>
              </a:tblGrid>
              <a:tr h="611584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Triggered When...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45649003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is clicked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3738037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mouseover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Mouse moves over an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2602324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mouseout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Mouse moves out of an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06899456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field value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70397391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 is submitted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00806662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keydown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is pressed 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83192510"/>
                  </a:ext>
                </a:extLst>
              </a:tr>
              <a:tr h="611584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finishes loading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3856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07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705B5B-2B15-4BAC-B3AB-7694D2AB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21471"/>
            <a:ext cx="10515600" cy="1325563"/>
          </a:xfrm>
        </p:spPr>
        <p:txBody>
          <a:bodyPr/>
          <a:lstStyle/>
          <a:p>
            <a:r>
              <a:rPr lang="en-IN" dirty="0"/>
              <a:t>3-Ways to Handle Events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EC11E7-F016-40A0-ACEC-B4D363E2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2227263"/>
            <a:ext cx="10515600" cy="44243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&lt;button onclick="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sayHello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()"&gt;Click Me&lt;/button&gt;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function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sayHello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alert("Hello!");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EF168E3-69A3-4BBA-B9B8-A33B84861C65}"/>
              </a:ext>
            </a:extLst>
          </p:cNvPr>
          <p:cNvSpPr txBox="1"/>
          <p:nvPr/>
        </p:nvSpPr>
        <p:spPr>
          <a:xfrm>
            <a:off x="698500" y="1116479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1. </a:t>
            </a:r>
            <a:r>
              <a:rPr lang="en-US" sz="3600" b="1" dirty="0"/>
              <a:t>Inline HTML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38571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1DCB6C-CB03-4332-AD1B-F742C391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52" y="310355"/>
            <a:ext cx="10515600" cy="1325563"/>
          </a:xfrm>
        </p:spPr>
        <p:txBody>
          <a:bodyPr/>
          <a:lstStyle/>
          <a:p>
            <a:r>
              <a:rPr lang="en-IN" dirty="0"/>
              <a:t>2. </a:t>
            </a:r>
            <a:r>
              <a:rPr lang="en-IN" b="1" dirty="0"/>
              <a:t>JavaScript in a Script Tag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BDB80E-FFCD-4921-9C87-31B3132A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&lt;button id="</a:t>
            </a:r>
            <a:r>
              <a:rPr lang="en-US" sz="3200" dirty="0" err="1"/>
              <a:t>btn</a:t>
            </a:r>
            <a:r>
              <a:rPr lang="en-US" sz="3200" dirty="0"/>
              <a:t>"&gt;Click&lt;/button&gt;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&lt;script&gt;</a:t>
            </a:r>
          </a:p>
          <a:p>
            <a:pPr marL="0" indent="0">
              <a:buNone/>
            </a:pPr>
            <a:r>
              <a:rPr lang="en-US" sz="3200" dirty="0"/>
              <a:t>  </a:t>
            </a:r>
            <a:r>
              <a:rPr lang="en-US" sz="3200" dirty="0" err="1"/>
              <a:t>document.getElementById</a:t>
            </a:r>
            <a:r>
              <a:rPr lang="en-US" sz="3200" dirty="0"/>
              <a:t>("</a:t>
            </a:r>
            <a:r>
              <a:rPr lang="en-US" sz="3200" dirty="0" err="1"/>
              <a:t>btn</a:t>
            </a:r>
            <a:r>
              <a:rPr lang="en-US" sz="3200" dirty="0"/>
              <a:t>").onclick = function() {</a:t>
            </a:r>
          </a:p>
          <a:p>
            <a:pPr marL="0" indent="0">
              <a:buNone/>
            </a:pPr>
            <a:r>
              <a:rPr lang="en-US" sz="3200" dirty="0"/>
              <a:t>    alert("Clicked!");</a:t>
            </a:r>
          </a:p>
          <a:p>
            <a:pPr marL="0" indent="0">
              <a:buNone/>
            </a:pPr>
            <a:r>
              <a:rPr lang="en-US" sz="3200" dirty="0"/>
              <a:t>  };</a:t>
            </a:r>
          </a:p>
          <a:p>
            <a:pPr marL="0" indent="0">
              <a:buNone/>
            </a:pPr>
            <a:r>
              <a:rPr lang="en-US" sz="3200" dirty="0"/>
              <a:t>&lt;/script&gt;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06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FFD20549-0A92-486C-B803-4D596DEF0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65965"/>
            <a:ext cx="82253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addEventListener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(Recommended)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DD67FE-AE8B-408C-A526-348165004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&lt;button id="</a:t>
            </a:r>
            <a:r>
              <a:rPr lang="en-US" sz="2800" dirty="0" err="1"/>
              <a:t>myBtn</a:t>
            </a:r>
            <a:r>
              <a:rPr lang="en-US" sz="2800" dirty="0"/>
              <a:t>"&gt;Click Me&lt;/button&gt;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&lt;script&gt;</a:t>
            </a:r>
          </a:p>
          <a:p>
            <a:pPr marL="0" indent="0">
              <a:buNone/>
            </a:pPr>
            <a:r>
              <a:rPr lang="en-US" sz="2800" dirty="0"/>
              <a:t>  let button = </a:t>
            </a:r>
            <a:r>
              <a:rPr lang="en-US" sz="2800" dirty="0" err="1"/>
              <a:t>document.getElementById</a:t>
            </a:r>
            <a:r>
              <a:rPr lang="en-US" sz="2800" dirty="0"/>
              <a:t>("</a:t>
            </a:r>
            <a:r>
              <a:rPr lang="en-US" sz="2800" dirty="0" err="1"/>
              <a:t>myBtn</a:t>
            </a:r>
            <a:r>
              <a:rPr lang="en-US" sz="2800" dirty="0"/>
              <a:t>");</a:t>
            </a:r>
          </a:p>
          <a:p>
            <a:pPr marL="0" indent="0">
              <a:buNone/>
            </a:pPr>
            <a:r>
              <a:rPr lang="en-US" sz="2800" dirty="0"/>
              <a:t>  </a:t>
            </a:r>
            <a:r>
              <a:rPr lang="en-US" sz="2800" dirty="0" err="1"/>
              <a:t>button.addEventListener</a:t>
            </a:r>
            <a:r>
              <a:rPr lang="en-US" sz="2800" dirty="0"/>
              <a:t>("click", function() {</a:t>
            </a:r>
          </a:p>
          <a:p>
            <a:pPr marL="0" indent="0">
              <a:buNone/>
            </a:pPr>
            <a:r>
              <a:rPr lang="en-US" sz="2800" dirty="0"/>
              <a:t>    alert("Hello from </a:t>
            </a:r>
            <a:r>
              <a:rPr lang="en-US" sz="2800" dirty="0" err="1"/>
              <a:t>addEventListener</a:t>
            </a:r>
            <a:r>
              <a:rPr lang="en-US" sz="2800" dirty="0"/>
              <a:t>!");</a:t>
            </a:r>
          </a:p>
          <a:p>
            <a:pPr marL="0" indent="0">
              <a:buNone/>
            </a:pPr>
            <a:r>
              <a:rPr lang="en-US" sz="2800" dirty="0"/>
              <a:t>  });</a:t>
            </a:r>
          </a:p>
          <a:p>
            <a:pPr marL="0" indent="0">
              <a:buNone/>
            </a:pPr>
            <a:r>
              <a:rPr lang="en-US" sz="2800" dirty="0"/>
              <a:t>&lt;/script&gt;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87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F50E85-254B-4562-9E54-427FE405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05" y="18821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ES6+ Essentials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084261F3-FA83-42D4-9F9A-9037FFB32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959970"/>
            <a:ext cx="12395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and const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1E2BA26-2E75-41F2-A458-51137617BD57}"/>
              </a:ext>
            </a:extLst>
          </p:cNvPr>
          <p:cNvSpPr txBox="1"/>
          <p:nvPr/>
        </p:nvSpPr>
        <p:spPr>
          <a:xfrm>
            <a:off x="1054100" y="1556458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 Functions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453023F-9833-4C14-A6E3-354CE43BDE4D}"/>
              </a:ext>
            </a:extLst>
          </p:cNvPr>
          <p:cNvSpPr txBox="1"/>
          <p:nvPr/>
        </p:nvSpPr>
        <p:spPr>
          <a:xfrm>
            <a:off x="1054100" y="2083414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Literals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7162AEF-A1DE-4B5D-9E6A-743485CF4F8B}"/>
              </a:ext>
            </a:extLst>
          </p:cNvPr>
          <p:cNvSpPr txBox="1"/>
          <p:nvPr/>
        </p:nvSpPr>
        <p:spPr>
          <a:xfrm>
            <a:off x="964740" y="2714797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Destructuring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5D42E50B-BFA1-4790-BA77-5E185CEC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3297099"/>
            <a:ext cx="56989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Spread and Rest Operators ...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45B889F-D06C-463C-9E50-9ACA1B468A11}"/>
              </a:ext>
            </a:extLst>
          </p:cNvPr>
          <p:cNvSpPr txBox="1"/>
          <p:nvPr/>
        </p:nvSpPr>
        <p:spPr>
          <a:xfrm>
            <a:off x="936625" y="3938275"/>
            <a:ext cx="6724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Default Parameters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0722F86-F8D8-47F3-93F5-C7F81DE28D14}"/>
              </a:ext>
            </a:extLst>
          </p:cNvPr>
          <p:cNvSpPr txBox="1"/>
          <p:nvPr/>
        </p:nvSpPr>
        <p:spPr>
          <a:xfrm>
            <a:off x="877888" y="4459916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Object Literals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4C1855C-2752-4AC1-9CCF-872FC2B48209}"/>
              </a:ext>
            </a:extLst>
          </p:cNvPr>
          <p:cNvSpPr txBox="1"/>
          <p:nvPr/>
        </p:nvSpPr>
        <p:spPr>
          <a:xfrm>
            <a:off x="877888" y="5153330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 &amp; Async/Await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0EDA3E8-7615-4EC3-BD97-38FC55B250FD}"/>
              </a:ext>
            </a:extLst>
          </p:cNvPr>
          <p:cNvSpPr txBox="1"/>
          <p:nvPr/>
        </p:nvSpPr>
        <p:spPr>
          <a:xfrm>
            <a:off x="936625" y="5680285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 (import/export)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9F36B6D-A0A3-457F-B5C9-9AFA7B71FDCE}"/>
              </a:ext>
            </a:extLst>
          </p:cNvPr>
          <p:cNvSpPr txBox="1"/>
          <p:nvPr/>
        </p:nvSpPr>
        <p:spPr>
          <a:xfrm>
            <a:off x="1054100" y="6123183"/>
            <a:ext cx="6724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496500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F1A923-23DF-420D-B9A2-03651EA2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40" y="27767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Array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85899B53-34EB-4E5F-BECE-D43810F22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728047"/>
              </p:ext>
            </p:extLst>
          </p:nvPr>
        </p:nvGraphicFramePr>
        <p:xfrm>
          <a:off x="292100" y="1193800"/>
          <a:ext cx="11607800" cy="5543248"/>
        </p:xfrm>
        <a:graphic>
          <a:graphicData uri="http://schemas.openxmlformats.org/drawingml/2006/table">
            <a:tbl>
              <a:tblPr/>
              <a:tblGrid>
                <a:gridCol w="2901950">
                  <a:extLst>
                    <a:ext uri="{9D8B030D-6E8A-4147-A177-3AD203B41FA5}">
                      <a16:colId xmlns:a16="http://schemas.microsoft.com/office/drawing/2014/main" xmlns="" val="1935116530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xmlns="" val="366563763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xmlns="" val="1281390245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xmlns="" val="2818240759"/>
                    </a:ext>
                  </a:extLst>
                </a:gridCol>
              </a:tblGrid>
              <a:tr h="519979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74482035"/>
                  </a:ext>
                </a:extLst>
              </a:tr>
              <a:tr h="9403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item(s) to the end of array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arr.push("x")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"x" at end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01692255"/>
                  </a:ext>
                </a:extLst>
              </a:tr>
              <a:tr h="519979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the last item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arr.pop()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last item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53983233"/>
                  </a:ext>
                </a:extLst>
              </a:tr>
              <a:tr h="519979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the first item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arr.shift()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first item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05990559"/>
                  </a:ext>
                </a:extLst>
              </a:tr>
              <a:tr h="9403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unshift()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item(s) to the beginning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arr.unshift("x")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"x" at start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8672142"/>
                  </a:ext>
                </a:extLst>
              </a:tr>
              <a:tr h="9403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slice()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a copy of part of array (non-destructive)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arr.slice(1, 3)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 from index 1 to 2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04103452"/>
                  </a:ext>
                </a:extLst>
              </a:tr>
              <a:tr h="9403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splice()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Adds/removes items (destructive)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arr.splice</a:t>
                      </a: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 or </a:t>
                      </a:r>
                      <a:r>
                        <a:rPr lang="en-IN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arr.splice</a:t>
                      </a: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0, "x")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or adds items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7525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444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B6EB3C20-B738-4A23-AFE3-0E9D3F11C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682701"/>
              </p:ext>
            </p:extLst>
          </p:nvPr>
        </p:nvGraphicFramePr>
        <p:xfrm>
          <a:off x="254000" y="393700"/>
          <a:ext cx="11811000" cy="645976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xmlns="" val="252034111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xmlns="" val="3499685037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xmlns="" val="178478778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xmlns="" val="2000080074"/>
                    </a:ext>
                  </a:extLst>
                </a:gridCol>
              </a:tblGrid>
              <a:tr h="1125236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forEach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function on each item (no return)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arr.forEach(item =&gt; console.log(item))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Logs each item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53558676"/>
                  </a:ext>
                </a:extLst>
              </a:tr>
              <a:tr h="112523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array</a:t>
                      </a: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 modifying each item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arr.map(item =&gt; item * 2)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Doubled values array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2997655"/>
                  </a:ext>
                </a:extLst>
              </a:tr>
              <a:tr h="112523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array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items passing condition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arr.filter(item =&gt; item &gt; 10)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 &gt; 10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54071907"/>
                  </a:ext>
                </a:extLst>
              </a:tr>
              <a:tr h="112523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</a:t>
                      </a: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item that matches condition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arr.find(item =&gt; item === 5)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(if exists)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10040529"/>
                  </a:ext>
                </a:extLst>
              </a:tr>
              <a:tr h="622219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value is in array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arr.includes("x")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or false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5022106"/>
                  </a:ext>
                </a:extLst>
              </a:tr>
              <a:tr h="112523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reduce()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array to </a:t>
                      </a: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value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arr.reduce((acc, curr) =&gt; acc + curr, 0)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 of items</a:t>
                      </a:r>
                    </a:p>
                  </a:txBody>
                  <a:tcPr marL="65007" marR="65007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5306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7975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DCF40E-9BEB-4A80-AFC4-110A2DFE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-24130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More About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9A6E1A18-8940-4FC8-A7D3-6ACE8DB12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663816"/>
              </p:ext>
            </p:extLst>
          </p:nvPr>
        </p:nvGraphicFramePr>
        <p:xfrm>
          <a:off x="304800" y="929642"/>
          <a:ext cx="11683999" cy="5801359"/>
        </p:xfrm>
        <a:graphic>
          <a:graphicData uri="http://schemas.openxmlformats.org/drawingml/2006/table">
            <a:tbl>
              <a:tblPr/>
              <a:tblGrid>
                <a:gridCol w="4004733">
                  <a:extLst>
                    <a:ext uri="{9D8B030D-6E8A-4147-A177-3AD203B41FA5}">
                      <a16:colId xmlns:a16="http://schemas.microsoft.com/office/drawing/2014/main" xmlns="" val="1830919145"/>
                    </a:ext>
                  </a:extLst>
                </a:gridCol>
                <a:gridCol w="3839633">
                  <a:extLst>
                    <a:ext uri="{9D8B030D-6E8A-4147-A177-3AD203B41FA5}">
                      <a16:colId xmlns:a16="http://schemas.microsoft.com/office/drawing/2014/main" xmlns="" val="3148724967"/>
                    </a:ext>
                  </a:extLst>
                </a:gridCol>
                <a:gridCol w="3839633">
                  <a:extLst>
                    <a:ext uri="{9D8B030D-6E8A-4147-A177-3AD203B41FA5}">
                      <a16:colId xmlns:a16="http://schemas.microsoft.com/office/drawing/2014/main" xmlns="" val="336074912"/>
                    </a:ext>
                  </a:extLst>
                </a:gridCol>
              </a:tblGrid>
              <a:tr h="662861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39949559"/>
                  </a:ext>
                </a:extLst>
              </a:tr>
              <a:tr h="116361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Expression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Assigning a function to a variable.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greet = function() { console.log("Hi"); };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54701526"/>
                  </a:ext>
                </a:extLst>
              </a:tr>
              <a:tr h="115526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Arrow Functions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Shorter syntax for writing functions.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add = (a, b) =&gt; a + b;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98695440"/>
                  </a:ext>
                </a:extLst>
              </a:tr>
              <a:tr h="1664359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vs Arguments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are placeholders in functions; arguments are actual values passed.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say(name) {} ← param &amp; say("John") ← argument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8640693"/>
                  </a:ext>
                </a:extLst>
              </a:tr>
              <a:tr h="115526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Parameters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default value if none is passed.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greet(name = "Guest") {}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48727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005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D1BEEC15-A45B-43D2-9EDB-759AD32E0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006285"/>
              </p:ext>
            </p:extLst>
          </p:nvPr>
        </p:nvGraphicFramePr>
        <p:xfrm>
          <a:off x="190500" y="165100"/>
          <a:ext cx="11468100" cy="6273800"/>
        </p:xfrm>
        <a:graphic>
          <a:graphicData uri="http://schemas.openxmlformats.org/drawingml/2006/table">
            <a:tbl>
              <a:tblPr/>
              <a:tblGrid>
                <a:gridCol w="3822700">
                  <a:extLst>
                    <a:ext uri="{9D8B030D-6E8A-4147-A177-3AD203B41FA5}">
                      <a16:colId xmlns:a16="http://schemas.microsoft.com/office/drawing/2014/main" xmlns="" val="4108665336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xmlns="" val="328498245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xmlns="" val="1979548011"/>
                    </a:ext>
                  </a:extLst>
                </a:gridCol>
              </a:tblGrid>
              <a:tr h="597697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Parameters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infinite arguments as array.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sum(...nums) {}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14480324"/>
                  </a:ext>
                </a:extLst>
              </a:tr>
              <a:tr h="597697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Statement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a value from the function.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a + b;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95482972"/>
                  </a:ext>
                </a:extLst>
              </a:tr>
              <a:tr h="104922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Callback Functions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passed as arguments to another function.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setTimeout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(() =&gt; console.log("Waited"), 1000);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35817180"/>
                  </a:ext>
                </a:extLst>
              </a:tr>
              <a:tr h="148998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Scope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declared inside a function are not accessible outside.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x = 10; function test() { let x = 20; }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0537531"/>
                  </a:ext>
                </a:extLst>
              </a:tr>
              <a:tr h="1489981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Closures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remembers variables from where it was defined.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outer() { let x = 1; return function inner() { console.log(x); }; }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30832892"/>
                  </a:ext>
                </a:extLst>
              </a:tr>
              <a:tr h="1049222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IIFE</a:t>
                      </a: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(Immediately Invoked Function Expression)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immediately after defining.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(function() { console.log("Run once!"); })();</a:t>
                      </a:r>
                    </a:p>
                  </a:txBody>
                  <a:tcPr marL="74006" marR="74006" marT="37003" marB="370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8423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158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A35C5A-2B30-4FCC-88DF-92EEC02F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-3810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Object-Oriented JavaScript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61CA74D3-6851-43AB-9C60-F3F5411C66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689906"/>
              </p:ext>
            </p:extLst>
          </p:nvPr>
        </p:nvGraphicFramePr>
        <p:xfrm>
          <a:off x="279400" y="685801"/>
          <a:ext cx="11544300" cy="6386380"/>
        </p:xfrm>
        <a:graphic>
          <a:graphicData uri="http://schemas.openxmlformats.org/drawingml/2006/table">
            <a:tbl>
              <a:tblPr/>
              <a:tblGrid>
                <a:gridCol w="3848100">
                  <a:extLst>
                    <a:ext uri="{9D8B030D-6E8A-4147-A177-3AD203B41FA5}">
                      <a16:colId xmlns:a16="http://schemas.microsoft.com/office/drawing/2014/main" xmlns="" val="2986577918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xmlns="" val="917315531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xmlns="" val="4049562786"/>
                    </a:ext>
                  </a:extLst>
                </a:gridCol>
              </a:tblGrid>
              <a:tr h="313913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43437208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collection of key-value pairs (properties and methods).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person = { name: "Ali", greet() { console.log("Hi") } };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49752887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 Function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used to create multiple similar objects.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Car(make) { this.make = make; }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73984424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Keyword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new object from a constructor function.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myCar = new Car("Toyota");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34676344"/>
                  </a:ext>
                </a:extLst>
              </a:tr>
              <a:tr h="665438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you to add properties/methods to all instances of an object.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Car.prototype.drive = function() {}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2905064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Keyword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Refers to the current object context.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Inside methods, this.name refers to the object’s name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98549103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(ES6)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cleaner way to write constructor functions and prototypes.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Person { constructor(name) { this.name = name; } }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65177102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class inherits from another using extends.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Employee extends Person {}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0609598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Super()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Calls parent constructor in child class.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constructor(name, role) { super(name); this.role = role; }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77024026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Encapsulation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Hiding internal details using closures or private fields (#).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#salary = 1000; (private field in ES2022+)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00165116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Polymorphism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behave differently depending on object type.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Overriding methods in child class.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54787667"/>
                  </a:ext>
                </a:extLst>
              </a:tr>
              <a:tr h="51928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complex logic; shows only essential details.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that internally use multiple steps, but expose one call.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769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101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D462D-2A48-4944-8DBE-3136A678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-22859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Error Handling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9983669-F524-4889-8C68-4E4495530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863415"/>
              </p:ext>
            </p:extLst>
          </p:nvPr>
        </p:nvGraphicFramePr>
        <p:xfrm>
          <a:off x="254000" y="914400"/>
          <a:ext cx="11734800" cy="5753096"/>
        </p:xfrm>
        <a:graphic>
          <a:graphicData uri="http://schemas.openxmlformats.org/drawingml/2006/table">
            <a:tbl>
              <a:tblPr/>
              <a:tblGrid>
                <a:gridCol w="3911600">
                  <a:extLst>
                    <a:ext uri="{9D8B030D-6E8A-4147-A177-3AD203B41FA5}">
                      <a16:colId xmlns:a16="http://schemas.microsoft.com/office/drawing/2014/main" xmlns="" val="103154095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xmlns="" val="3500605961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xmlns="" val="1373694621"/>
                    </a:ext>
                  </a:extLst>
                </a:gridCol>
              </a:tblGrid>
              <a:tr h="359568">
                <a:tc>
                  <a:txBody>
                    <a:bodyPr/>
                    <a:lstStyle/>
                    <a:p>
                      <a:r>
                        <a:rPr lang="en-US" sz="1300"/>
                        <a:t>Concept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Description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Example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54017468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try...catch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Used to handle errors gracefully without crashing the program.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try { riskyCode(); } catch (err) { console.log(err.message); }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42180917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finally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Runs code after try...catch no matter what (error or not).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finally { console.log("Done!"); }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18533222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Error Object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Built-in object containing error info (name, message, stack).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new Error("Something went wrong")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81394760"/>
                  </a:ext>
                </a:extLst>
              </a:tr>
              <a:tr h="359568">
                <a:tc>
                  <a:txBody>
                    <a:bodyPr/>
                    <a:lstStyle/>
                    <a:p>
                      <a:r>
                        <a:rPr lang="en-US" sz="1300" b="1"/>
                        <a:t>throw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Manually throw an error.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throw new Error("Custom Error")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02456124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Custom Errors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You can define your own error types by extending the Error class.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class ValidationError extends Error {}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6941393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Synchronous Errors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Handled immediately with try...catch.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try { JSON.parse("{") } catch(e) {}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53364920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Asynchronous Errors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Handled with .catch() or try...catch inside async/await.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async function f() { try {} catch {} }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43253878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/>
                        <a:t>Common Errors</a:t>
                      </a:r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ReferenceError, TypeError, SyntaxError, etc.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let x = y; // y is not defined → ReferenceError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37333718"/>
                  </a:ext>
                </a:extLst>
              </a:tr>
              <a:tr h="629245">
                <a:tc>
                  <a:txBody>
                    <a:bodyPr/>
                    <a:lstStyle/>
                    <a:p>
                      <a:r>
                        <a:rPr lang="en-US" sz="1300" b="1" dirty="0"/>
                        <a:t>Debugging Tools</a:t>
                      </a:r>
                      <a:endParaRPr lang="en-US" sz="1300" dirty="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Use console.error(), breakpoints, DevTools for better debugging.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console.error</a:t>
                      </a:r>
                      <a:r>
                        <a:rPr lang="en-US" sz="1300" dirty="0"/>
                        <a:t>("Error: ", e)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5696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709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4AED16-F60F-4DAA-AF1D-22F9AFEF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-29766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DOM Manipulation (Advanced)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64747484-5F38-45F5-BCCF-CFC919865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801896"/>
              </p:ext>
            </p:extLst>
          </p:nvPr>
        </p:nvGraphicFramePr>
        <p:xfrm>
          <a:off x="482600" y="1027901"/>
          <a:ext cx="11430000" cy="5464977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xmlns="" val="161442949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xmlns="" val="309853315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xmlns="" val="814430180"/>
                    </a:ext>
                  </a:extLst>
                </a:gridCol>
              </a:tblGrid>
              <a:tr h="280386"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68195713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createElement()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new HTML element dynamically.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div = document.createElement("div");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01298834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appendChild()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Appends a node as the last child of a parent.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parent.appendChild(child);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247766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insertBefore()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a node before a reference node.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parent.insertBefore(newNode, existingNode);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86224784"/>
                  </a:ext>
                </a:extLst>
              </a:tr>
              <a:tr h="280386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removeChild()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a child node.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parent.removeChild(child);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42114230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replaceChild()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an existing child with a new one.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parent.replaceChild(newNode, oldNode);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36328467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innerHTML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or gets HTML content inside an element.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element.innerHTML = "&lt;p&gt;Hello&lt;/p&gt;";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46035813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textContent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or gets the text only (ignores HTML tags).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element.textContent = "Hello";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68204466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setAttribute() / getAttribute()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or gets attributes like id, class, src, etc.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img.setAttribute("src", "img.jpg");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37464895"/>
                  </a:ext>
                </a:extLst>
              </a:tr>
              <a:tr h="280386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classList.add/remove/toggle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Add, remove, or toggle CSS classes.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div.classList.toggle("active");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0783649"/>
                  </a:ext>
                </a:extLst>
              </a:tr>
              <a:tr h="280386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style.property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inline styles via JavaScript.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element.style.color = "red";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15144442"/>
                  </a:ext>
                </a:extLst>
              </a:tr>
              <a:tr h="46066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cloneNode()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Clones a DOM node (optionally deep).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copy = node.cloneNode(true);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77488091"/>
                  </a:ext>
                </a:extLst>
              </a:tr>
              <a:tr h="65809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documentFragment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Efficiently batch DOM updates before inserting into the main DOM.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performance optimization in large updates.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47616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892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7EB812-BCE6-405C-A0A6-782B86F4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82" y="0"/>
            <a:ext cx="10541000" cy="19560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Asynchronous JavaScript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19FB62A9-E9C9-45EC-A30E-2C6060D52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149587"/>
              </p:ext>
            </p:extLst>
          </p:nvPr>
        </p:nvGraphicFramePr>
        <p:xfrm>
          <a:off x="304800" y="644977"/>
          <a:ext cx="11887200" cy="6331835"/>
        </p:xfrm>
        <a:graphic>
          <a:graphicData uri="http://schemas.openxmlformats.org/drawingml/2006/table">
            <a:tbl>
              <a:tblPr/>
              <a:tblGrid>
                <a:gridCol w="3926006">
                  <a:extLst>
                    <a:ext uri="{9D8B030D-6E8A-4147-A177-3AD203B41FA5}">
                      <a16:colId xmlns:a16="http://schemas.microsoft.com/office/drawing/2014/main" xmlns="" val="3591786420"/>
                    </a:ext>
                  </a:extLst>
                </a:gridCol>
                <a:gridCol w="3998794">
                  <a:extLst>
                    <a:ext uri="{9D8B030D-6E8A-4147-A177-3AD203B41FA5}">
                      <a16:colId xmlns:a16="http://schemas.microsoft.com/office/drawing/2014/main" xmlns="" val="2111687953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xmlns="" val="411404604"/>
                    </a:ext>
                  </a:extLst>
                </a:gridCol>
              </a:tblGrid>
              <a:tr h="37426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/ Usage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35889237"/>
                  </a:ext>
                </a:extLst>
              </a:tr>
              <a:tr h="79457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Synchronous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line by line; next line waits for the previous one to finish.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console.log("1"); console.log("2");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90852226"/>
                  </a:ext>
                </a:extLst>
              </a:tr>
              <a:tr h="953653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Asynchronous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block next operations; continues and handles tasks in the background.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setTimeout(() =&gt; console.log("Hello"), 1000);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36440044"/>
                  </a:ext>
                </a:extLst>
              </a:tr>
              <a:tr h="663958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Callbacks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passed as an argument, executed after a task is complete.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doSomething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(() =&gt; { console.log("Done"); });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9595260"/>
                  </a:ext>
                </a:extLst>
              </a:tr>
              <a:tr h="551239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setTimeout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a function after a delay.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setTimeout(() =&gt; alert("Hi!"), 2000);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64563072"/>
                  </a:ext>
                </a:extLst>
              </a:tr>
              <a:tr h="663958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setInterval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Repeats execution in intervals.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setInterval(() =&gt; console.log("Tick"), 1000);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48318287"/>
                  </a:ext>
                </a:extLst>
              </a:tr>
              <a:tr h="663958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Promises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 future value or error (pending → fulfilled/rejected).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fetch(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).then(...).catch(...);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94037366"/>
                  </a:ext>
                </a:extLst>
              </a:tr>
              <a:tr h="79457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async/await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Syntactic sugar for Promises, makes async code look synchronous.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res = await fetch(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5864161"/>
                  </a:ext>
                </a:extLst>
              </a:tr>
              <a:tr h="663958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then/catch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success (then) and failure (catch) for Promises.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promise.then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(...).catch(...);</a:t>
                      </a:r>
                    </a:p>
                  </a:txBody>
                  <a:tcPr marL="88976" marR="88976" marT="44488" marB="444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1770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116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362937-94A7-4120-8B09-F46F2C24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16" y="130781"/>
            <a:ext cx="8596668" cy="1320800"/>
          </a:xfrm>
        </p:spPr>
        <p:txBody>
          <a:bodyPr>
            <a:normAutofit/>
          </a:bodyPr>
          <a:lstStyle/>
          <a:p>
            <a:r>
              <a:rPr lang="en-IN" dirty="0"/>
              <a:t>1. </a:t>
            </a:r>
            <a:r>
              <a:rPr lang="en-IN" b="1" dirty="0"/>
              <a:t>Synchronous JavaScript (Blocking Code)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CFF935A-41B5-44D2-B254-43647E600F5F}"/>
              </a:ext>
            </a:extLst>
          </p:cNvPr>
          <p:cNvSpPr txBox="1"/>
          <p:nvPr/>
        </p:nvSpPr>
        <p:spPr>
          <a:xfrm>
            <a:off x="838200" y="1587500"/>
            <a:ext cx="10896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synchronous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execution, code is executed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line at a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sequence.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second line of code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run until the first line finishes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one task takes time (like an API request), 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execution of the following lines.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14DCB53-70A7-4D5D-B741-C4743605C1CE}"/>
              </a:ext>
            </a:extLst>
          </p:cNvPr>
          <p:cNvSpPr txBox="1"/>
          <p:nvPr/>
        </p:nvSpPr>
        <p:spPr>
          <a:xfrm>
            <a:off x="1016000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console.log("1");</a:t>
            </a:r>
          </a:p>
          <a:p>
            <a:r>
              <a:rPr lang="en-US" dirty="0"/>
              <a:t>console.log("2");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B8D19CF-B688-44F5-85B4-35BBF92E04AD}"/>
              </a:ext>
            </a:extLst>
          </p:cNvPr>
          <p:cNvSpPr txBox="1"/>
          <p:nvPr/>
        </p:nvSpPr>
        <p:spPr>
          <a:xfrm>
            <a:off x="1016000" y="4370168"/>
            <a:ext cx="7962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console.log("1");</a:t>
            </a:r>
          </a:p>
          <a:p>
            <a:r>
              <a:rPr lang="en-US" dirty="0" err="1"/>
              <a:t>setTimeout</a:t>
            </a:r>
            <a:r>
              <a:rPr lang="en-US" dirty="0"/>
              <a:t>(() =&gt; console.log("2"), 2000); // wait for 2 seconds</a:t>
            </a:r>
          </a:p>
          <a:p>
            <a:r>
              <a:rPr lang="en-US" dirty="0"/>
              <a:t>console.log("3");</a:t>
            </a:r>
          </a:p>
        </p:txBody>
      </p:sp>
    </p:spTree>
    <p:extLst>
      <p:ext uri="{BB962C8B-B14F-4D97-AF65-F5344CB8AC3E}">
        <p14:creationId xmlns:p14="http://schemas.microsoft.com/office/powerpoint/2010/main" val="36493616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E1C728-EFCD-4BCD-8710-7E92F7CD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7831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b="1" dirty="0"/>
              <a:t>Asynchronous JavaScript (Non-blocking Code)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473DED0-BDD9-484B-8080-76951B74BC8C}"/>
              </a:ext>
            </a:extLst>
          </p:cNvPr>
          <p:cNvSpPr txBox="1"/>
          <p:nvPr/>
        </p:nvSpPr>
        <p:spPr>
          <a:xfrm>
            <a:off x="838200" y="1690688"/>
            <a:ext cx="10515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allows operations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while the browser handles time-consuming tasks in the background.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the next lines of code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won't wait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time-consuming tasks to finish, which makes the app more efficient.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8C609A5-0154-4FE5-839B-69B787446F6E}"/>
              </a:ext>
            </a:extLst>
          </p:cNvPr>
          <p:cNvSpPr txBox="1"/>
          <p:nvPr/>
        </p:nvSpPr>
        <p:spPr>
          <a:xfrm>
            <a:off x="546100" y="3810685"/>
            <a:ext cx="812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Callbacks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Old Way)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A4EAC11-D68F-4E7B-8D8A-9653C3F8AD81}"/>
              </a:ext>
            </a:extLst>
          </p:cNvPr>
          <p:cNvSpPr txBox="1"/>
          <p:nvPr/>
        </p:nvSpPr>
        <p:spPr>
          <a:xfrm>
            <a:off x="749300" y="4875550"/>
            <a:ext cx="10388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callback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function that is passed as an argument to another function and is executed once the task is complete.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4185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A495980-7D03-45E2-9D55-A5A15FB98052}"/>
              </a:ext>
            </a:extLst>
          </p:cNvPr>
          <p:cNvSpPr txBox="1"/>
          <p:nvPr/>
        </p:nvSpPr>
        <p:spPr>
          <a:xfrm>
            <a:off x="482600" y="342900"/>
            <a:ext cx="10693400" cy="290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doSomething</a:t>
            </a:r>
            <a:r>
              <a:rPr lang="en-US" dirty="0"/>
              <a:t>(callback) {</a:t>
            </a:r>
          </a:p>
          <a:p>
            <a:r>
              <a:rPr lang="en-US" dirty="0"/>
              <a:t>    </a:t>
            </a:r>
            <a:r>
              <a:rPr lang="en-US" dirty="0" err="1"/>
              <a:t>setTimeout</a:t>
            </a:r>
            <a:r>
              <a:rPr lang="en-US" dirty="0"/>
              <a:t>(() =&gt; {</a:t>
            </a:r>
          </a:p>
          <a:p>
            <a:r>
              <a:rPr lang="en-US" dirty="0"/>
              <a:t>        console.log("Task Done!");</a:t>
            </a:r>
          </a:p>
          <a:p>
            <a:r>
              <a:rPr lang="en-US" dirty="0"/>
              <a:t>        callback();  // Execute callback after task completion</a:t>
            </a:r>
          </a:p>
          <a:p>
            <a:r>
              <a:rPr lang="en-US" dirty="0"/>
              <a:t>    }, 2000);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doSomething</a:t>
            </a:r>
            <a:r>
              <a:rPr lang="en-US" dirty="0"/>
              <a:t>(() =&gt; {</a:t>
            </a:r>
          </a:p>
          <a:p>
            <a:r>
              <a:rPr lang="en-US" dirty="0"/>
              <a:t>    console.log("Callback executed");</a:t>
            </a:r>
          </a:p>
          <a:p>
            <a:r>
              <a:rPr lang="en-US" dirty="0"/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3C55F44-B1EE-454C-A315-FF72428DA017}"/>
              </a:ext>
            </a:extLst>
          </p:cNvPr>
          <p:cNvSpPr txBox="1"/>
          <p:nvPr/>
        </p:nvSpPr>
        <p:spPr>
          <a:xfrm>
            <a:off x="635000" y="5112435"/>
            <a:ext cx="8089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 Done! (after 2 seconds)</a:t>
            </a:r>
          </a:p>
          <a:p>
            <a:r>
              <a:rPr lang="en-US" dirty="0"/>
              <a:t>Callback executed (immediately after the task)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6919BF4-D37A-463F-BDF1-45D965BF5647}"/>
              </a:ext>
            </a:extLst>
          </p:cNvPr>
          <p:cNvSpPr txBox="1"/>
          <p:nvPr/>
        </p:nvSpPr>
        <p:spPr>
          <a:xfrm>
            <a:off x="482600" y="3810000"/>
            <a:ext cx="651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18438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7450C2-6799-4E78-A786-E33B2C7D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1437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b="1" dirty="0" err="1"/>
              <a:t>setTimeout</a:t>
            </a:r>
            <a:r>
              <a:rPr lang="en-US" b="1" dirty="0"/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A33B1E-2AE8-4462-9DAC-E2CCA2D8E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397000"/>
            <a:ext cx="10756900" cy="4779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EX-1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setTimeout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(() =&gt; {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console.log("This runs after 3 seconds");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3000);</a:t>
            </a: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8BD95AE8-FEA7-4FF7-B421-90DA3DC53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1494823"/>
            <a:ext cx="62865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setTimeout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 lets you run code after a specified delay (in milliseconds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636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42889F-E385-4814-992F-F8ABB92E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139526"/>
            <a:ext cx="10515600" cy="1325563"/>
          </a:xfrm>
        </p:spPr>
        <p:txBody>
          <a:bodyPr/>
          <a:lstStyle/>
          <a:p>
            <a:r>
              <a:rPr lang="en-US" dirty="0"/>
              <a:t>5. </a:t>
            </a:r>
            <a:r>
              <a:rPr lang="en-US" b="1" dirty="0" err="1"/>
              <a:t>setInterval</a:t>
            </a:r>
            <a:r>
              <a:rPr lang="en-US" b="1" dirty="0"/>
              <a:t>()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4ECE1F3-37D1-4C9F-AB13-A40FB823F48E}"/>
              </a:ext>
            </a:extLst>
          </p:cNvPr>
          <p:cNvSpPr txBox="1"/>
          <p:nvPr/>
        </p:nvSpPr>
        <p:spPr>
          <a:xfrm>
            <a:off x="527050" y="2151401"/>
            <a:ext cx="111379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count = 0;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interval =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setInterval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(() =&gt; {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count++;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console.log("Count: " + count);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if(count === 5)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clearInterval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(interval); // Stop after 5 counts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1000);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9C866C38-A9ED-49F8-B021-62F38CC2E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926480"/>
            <a:ext cx="1046703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setInterval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runs a function repeatedly, with a delay between each run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398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552DFA-14A6-4CE1-B013-92AA9B96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-2022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67AA91A-62D4-4E93-9779-E91B8C65E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6900" y="1305341"/>
            <a:ext cx="109982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Promise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object that represents the eventual completion (or failure) of an asynchronous operation.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has three states: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promise is still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Resolved/Fulfilled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promise is completed successfully.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promise failed.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692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AF16015-9A03-4A1D-A209-BCB42DAAD7E0}"/>
              </a:ext>
            </a:extLst>
          </p:cNvPr>
          <p:cNvSpPr txBox="1"/>
          <p:nvPr/>
        </p:nvSpPr>
        <p:spPr>
          <a:xfrm>
            <a:off x="393700" y="342900"/>
            <a:ext cx="11430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promise = new Promise((resolve, reject) =&gt; {</a:t>
            </a:r>
          </a:p>
          <a:p>
            <a:r>
              <a:rPr lang="en-US" dirty="0"/>
              <a:t>    let success = true; // Try changing this to false</a:t>
            </a:r>
          </a:p>
          <a:p>
            <a:r>
              <a:rPr lang="en-US" dirty="0"/>
              <a:t>    if (success) {</a:t>
            </a:r>
          </a:p>
          <a:p>
            <a:r>
              <a:rPr lang="en-US" dirty="0"/>
              <a:t>        resolve("Task was successful!");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reject("Task failed");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promise</a:t>
            </a:r>
          </a:p>
          <a:p>
            <a:r>
              <a:rPr lang="en-US" dirty="0"/>
              <a:t>    .then(result =&gt; console.log(result))  // If successful</a:t>
            </a:r>
          </a:p>
          <a:p>
            <a:r>
              <a:rPr lang="en-US" dirty="0"/>
              <a:t>    .catch(error =&gt; console.log(error));  // If failed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809CC0D-61DE-4B43-AA7A-3CDB32707D7C}"/>
              </a:ext>
            </a:extLst>
          </p:cNvPr>
          <p:cNvSpPr txBox="1"/>
          <p:nvPr/>
        </p:nvSpPr>
        <p:spPr>
          <a:xfrm>
            <a:off x="393700" y="42095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B61CA961-2A4B-4741-888A-675434659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4960494"/>
            <a:ext cx="857818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success = true, it prints: "Task was successful!".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success = false, it prints: "Task failed".</a:t>
            </a:r>
          </a:p>
        </p:txBody>
      </p:sp>
    </p:spTree>
    <p:extLst>
      <p:ext uri="{BB962C8B-B14F-4D97-AF65-F5344CB8AC3E}">
        <p14:creationId xmlns:p14="http://schemas.microsoft.com/office/powerpoint/2010/main" val="3532370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5C7E92-0FCF-4E95-8187-7D521B7F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52400"/>
            <a:ext cx="10515600" cy="48333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Async/Await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2FDD7C-5749-4C0B-8F6E-44F61E0C5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889000"/>
            <a:ext cx="11811000" cy="58166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9F55530-9408-4F61-BF2E-DCFD7C1B2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71074"/>
            <a:ext cx="116586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Async/Await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syntactic sugar for working with Promises. It allows you to write asynchronous code that looks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 marks a function as asynchronous.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await pauses the execution until the Promise resolves or rejects.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 function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let data = await fetch('https://jsonplaceholder.typicode.com/posts');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let posts = await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data.json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console.log(posts);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77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0FDED-4D65-461E-B763-FA707156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472282"/>
            <a:ext cx="10515600" cy="1325563"/>
          </a:xfrm>
        </p:spPr>
        <p:txBody>
          <a:bodyPr/>
          <a:lstStyle/>
          <a:p>
            <a:r>
              <a:rPr lang="en-US" dirty="0"/>
              <a:t>19. Local Storage &amp; Session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F14361-6C47-48F3-AE8E-7E827637D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647700"/>
            <a:ext cx="12471400" cy="6019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both part of the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Storage API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 websites to 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user's browser. The data is saved as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accessible using JavaScript.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Features: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no expiration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persists even after the browser is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and reopened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to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pages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same origin (domain + port + protocol).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 Cases: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preferences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(light/dark)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apps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647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8CC8823-71CF-40BB-B5D4-2BA6E2FBC414}"/>
              </a:ext>
            </a:extLst>
          </p:cNvPr>
          <p:cNvSpPr txBox="1"/>
          <p:nvPr/>
        </p:nvSpPr>
        <p:spPr>
          <a:xfrm>
            <a:off x="355600" y="342900"/>
            <a:ext cx="11582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Store data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localStorage.setItem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("username", "John");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Get data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user =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localStorage.getItem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("username");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console.log(user); // John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Remove a specific item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localStorage.removeItem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("username");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Clear all items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localStorage.clear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578264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55330B6-612C-466F-8E2E-ADFC5494F294}"/>
              </a:ext>
            </a:extLst>
          </p:cNvPr>
          <p:cNvSpPr txBox="1"/>
          <p:nvPr/>
        </p:nvSpPr>
        <p:spPr>
          <a:xfrm>
            <a:off x="266700" y="2217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A46EE6D-D16D-4E9D-9707-9C8B90FD7C5A}"/>
              </a:ext>
            </a:extLst>
          </p:cNvPr>
          <p:cNvSpPr txBox="1"/>
          <p:nvPr/>
        </p:nvSpPr>
        <p:spPr>
          <a:xfrm>
            <a:off x="647700" y="1125954"/>
            <a:ext cx="111125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for the duration of the page session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(i.e., until the browser tab is closed).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shared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tabs or windows.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secure for temporary data.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Common Use Cases: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data while navigating between pages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login info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progress in multi-step forms</a:t>
            </a:r>
          </a:p>
        </p:txBody>
      </p:sp>
    </p:spTree>
    <p:extLst>
      <p:ext uri="{BB962C8B-B14F-4D97-AF65-F5344CB8AC3E}">
        <p14:creationId xmlns:p14="http://schemas.microsoft.com/office/powerpoint/2010/main" val="825430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29DDD91-27A8-4BB7-BB64-7505345000E9}"/>
              </a:ext>
            </a:extLst>
          </p:cNvPr>
          <p:cNvSpPr txBox="1"/>
          <p:nvPr/>
        </p:nvSpPr>
        <p:spPr>
          <a:xfrm>
            <a:off x="863600" y="677426"/>
            <a:ext cx="98679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Store data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sessionStorage.setItem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("cart", "item1");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Get data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item 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sessionStorage.getItem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("cart");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console.log(item); // item1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Remove specific item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sessionStorage.removeItem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("cart");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Clear all session data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sessionStorage.clear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428360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B78D1D-073B-4A1F-BBE7-7F4C3BC4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6037"/>
            <a:ext cx="10515600" cy="1325563"/>
          </a:xfrm>
        </p:spPr>
        <p:txBody>
          <a:bodyPr/>
          <a:lstStyle/>
          <a:p>
            <a:r>
              <a:rPr lang="en-US" dirty="0"/>
              <a:t>21. Modules and 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2D3940-D714-4AD5-AB9E-5FDE72F06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193800"/>
            <a:ext cx="10947400" cy="5326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JavaScript Modules?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just a file that contains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can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elsewhere.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help you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into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manageable pieces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one big file.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functions, objects, or variables from one file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 into another.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Named Export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Export</a:t>
            </a:r>
          </a:p>
        </p:txBody>
      </p:sp>
    </p:spTree>
    <p:extLst>
      <p:ext uri="{BB962C8B-B14F-4D97-AF65-F5344CB8AC3E}">
        <p14:creationId xmlns:p14="http://schemas.microsoft.com/office/powerpoint/2010/main" val="30062502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54A1F9-B74D-4FFD-91B2-1C3E1B54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8812AD-AB95-452D-BE6A-BED7C57E6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34" y="1464338"/>
            <a:ext cx="11730566" cy="54317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file: math.js</a:t>
            </a:r>
          </a:p>
          <a:p>
            <a:pPr marL="0" indent="0">
              <a:buNone/>
            </a:pP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function add(x, y) {</a:t>
            </a:r>
          </a:p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x + y;</a:t>
            </a:r>
          </a:p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function subtract(x, y) {</a:t>
            </a:r>
          </a:p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x - y;</a:t>
            </a:r>
          </a:p>
          <a:p>
            <a:pPr marL="0" indent="0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5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82AAE9-7B2C-43EA-B958-9EDCB37E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Default Export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6313C4-42AF-40E2-B240-01A2ED73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file: greet.js</a:t>
            </a:r>
          </a:p>
          <a:p>
            <a:pPr marL="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function greet(name) {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`Hello, ${name}!`;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93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501990-B062-4E05-BF12-4BCB987B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9EFBAF-A295-4AEA-B82F-1CB61019F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26765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Importing Nam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Importing a Default Exported Exports</a:t>
            </a:r>
          </a:p>
        </p:txBody>
      </p:sp>
    </p:spTree>
    <p:extLst>
      <p:ext uri="{BB962C8B-B14F-4D97-AF65-F5344CB8AC3E}">
        <p14:creationId xmlns:p14="http://schemas.microsoft.com/office/powerpoint/2010/main" val="39171459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E94A3F-8353-41BC-AA13-B494D24C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Importing Named Exports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7D742C-1F11-4361-A715-48B1D217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2289"/>
            <a:ext cx="10498666" cy="4595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file: app.js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add, subtract } from './math.js';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console.log(add(2, 3));       // 5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console.log(subtract(5, 2));  // 3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3614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D4338D-8F04-4078-9029-EA145E85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Importing a Default Export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2DF1F4-3E0D-4F59-B3B6-F1F307911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file: app.js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greet from './greet.js';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console.log(greet('Alice'));  // Hello, Alice!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87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3491</TotalTime>
  <Words>4077</Words>
  <Application>Microsoft Office PowerPoint</Application>
  <PresentationFormat>Custom</PresentationFormat>
  <Paragraphs>856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Office Theme</vt:lpstr>
      <vt:lpstr>1. What is JavaScript</vt:lpstr>
      <vt:lpstr>PowerPoint Presentation</vt:lpstr>
      <vt:lpstr>PowerPoint Presentation</vt:lpstr>
      <vt:lpstr>JavaScript Basics</vt:lpstr>
      <vt:lpstr>PowerPoint Presentation</vt:lpstr>
      <vt:lpstr>DATATYPES </vt:lpstr>
      <vt:lpstr>PowerPoint Presentation</vt:lpstr>
      <vt:lpstr>PowerPoint Presentation</vt:lpstr>
      <vt:lpstr>2. Operators and Expressions</vt:lpstr>
      <vt:lpstr>PowerPoint Presentation</vt:lpstr>
      <vt:lpstr>3. Control Flow </vt:lpstr>
      <vt:lpstr>PowerPoint Presentation</vt:lpstr>
      <vt:lpstr>4. Loops and Iteration</vt:lpstr>
      <vt:lpstr>5. Functions</vt:lpstr>
      <vt:lpstr>PowerPoint Presentation</vt:lpstr>
      <vt:lpstr>PowerPoint Presentation</vt:lpstr>
      <vt:lpstr>PowerPoint Presentation</vt:lpstr>
      <vt:lpstr>PowerPoint Presentation</vt:lpstr>
      <vt:lpstr>6. Arrays</vt:lpstr>
      <vt:lpstr>PowerPoint Presentation</vt:lpstr>
      <vt:lpstr>PowerPoint Presentation</vt:lpstr>
      <vt:lpstr>7. Objects</vt:lpstr>
      <vt:lpstr>Accessing Object Properties</vt:lpstr>
      <vt:lpstr>PowerPoint Presentation</vt:lpstr>
      <vt:lpstr>8. DOM Manipulation (Intro)</vt:lpstr>
      <vt:lpstr>PowerPoint Presentation</vt:lpstr>
      <vt:lpstr>PowerPoint Presentation</vt:lpstr>
      <vt:lpstr>PowerPoint Presentation</vt:lpstr>
      <vt:lpstr>PowerPoint Presentation</vt:lpstr>
      <vt:lpstr>9. Events and Event Handling</vt:lpstr>
      <vt:lpstr>Common HTML Events</vt:lpstr>
      <vt:lpstr>3-Ways to Handle Events</vt:lpstr>
      <vt:lpstr>2. JavaScript in a Script Tag</vt:lpstr>
      <vt:lpstr>3. Using addEventListener() (Recommended) </vt:lpstr>
      <vt:lpstr>11. ES6+ Essentials</vt:lpstr>
      <vt:lpstr>12. Array Methods</vt:lpstr>
      <vt:lpstr>PowerPoint Presentation</vt:lpstr>
      <vt:lpstr>13. More About Functions</vt:lpstr>
      <vt:lpstr>PowerPoint Presentation</vt:lpstr>
      <vt:lpstr>14. Object-Oriented JavaScript</vt:lpstr>
      <vt:lpstr>15. Error Handling</vt:lpstr>
      <vt:lpstr>16. DOM Manipulation (Advanced)</vt:lpstr>
      <vt:lpstr>17. Asynchronous JavaScript </vt:lpstr>
      <vt:lpstr>1. Synchronous JavaScript (Blocking Code)</vt:lpstr>
      <vt:lpstr>2. Asynchronous JavaScript (Non-blocking Code)</vt:lpstr>
      <vt:lpstr>PowerPoint Presentation</vt:lpstr>
      <vt:lpstr>4. setTimeout()</vt:lpstr>
      <vt:lpstr>5. setInterval()</vt:lpstr>
      <vt:lpstr>6. Promises</vt:lpstr>
      <vt:lpstr>PowerPoint Presentation</vt:lpstr>
      <vt:lpstr>18. Async/Await</vt:lpstr>
      <vt:lpstr>19. Local Storage &amp; Session Storage</vt:lpstr>
      <vt:lpstr>PowerPoint Presentation</vt:lpstr>
      <vt:lpstr>PowerPoint Presentation</vt:lpstr>
      <vt:lpstr>PowerPoint Presentation</vt:lpstr>
      <vt:lpstr>21. Modules and Imports</vt:lpstr>
      <vt:lpstr>1. Named Export</vt:lpstr>
      <vt:lpstr>2. Default Export</vt:lpstr>
      <vt:lpstr>Importing a Module</vt:lpstr>
      <vt:lpstr>1. Importing Named Exports</vt:lpstr>
      <vt:lpstr>2. Importing a Default Export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JavaScript Basics</dc:title>
  <dc:creator>Administrator</dc:creator>
  <cp:lastModifiedBy>admin</cp:lastModifiedBy>
  <cp:revision>74</cp:revision>
  <dcterms:created xsi:type="dcterms:W3CDTF">2025-04-17T10:49:58Z</dcterms:created>
  <dcterms:modified xsi:type="dcterms:W3CDTF">2025-11-12T11:21:09Z</dcterms:modified>
</cp:coreProperties>
</file>